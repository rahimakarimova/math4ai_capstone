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6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NATIONAL AI CENTER  —  AI ACADEMY  |  MATH4AI 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From Linear Scores to a Single Hidden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40280"/>
            <a:ext cx="11247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0" i="0">
                <a:solidFill>
                  <a:srgbClr val="F5A623"/>
                </a:solidFill>
              </a:rPr>
              <a:t>A Mathematical Study of Simple Learning Systems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017520"/>
            <a:ext cx="5029200" cy="45720"/>
          </a:xfrm>
          <a:prstGeom prst="rect">
            <a:avLst/>
          </a:prstGeom>
          <a:solidFill>
            <a:srgbClr val="4477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200400"/>
            <a:ext cx="11247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DFF"/>
                </a:solidFill>
              </a:rPr>
              <a:t>Central Question:  When does a hidden layer genuinely improve on a linear decision rule?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675887"/>
            <a:ext cx="11247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DFF"/>
                </a:solidFill>
              </a:rPr>
              <a:t>Models:  Softmax Regression  vs.  One-Hidden-Layer Neural Network (tanh)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51376"/>
            <a:ext cx="11247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DFF"/>
                </a:solidFill>
              </a:rPr>
              <a:t>Datasets:  Linear Gaussian  ·  Moons  ·  Digits (10-class benchmark)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626864"/>
            <a:ext cx="11247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DFF"/>
                </a:solidFill>
              </a:rPr>
              <a:t>Implementation:  Pure NumPy — no PyTorch, TensorFlow, or autograd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5321808"/>
            <a:ext cx="12188952" cy="914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557784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99BB"/>
                </a:solidFill>
              </a:rPr>
              <a:t>Presented by: Rahima Karimova &amp; Team  |  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Presentation Outline  (10 min + 5 min Q&amp;A)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8368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</a:rPr>
              <a:t>Math4AI Capstone  |  National AI Center  | 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475488" cy="475488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41732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1481328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</a:rPr>
              <a:t>Central Question &amp; Framing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221992"/>
            <a:ext cx="475488" cy="475488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221992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286000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</a:rPr>
              <a:t>Notation Reference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026664"/>
            <a:ext cx="475488" cy="475488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3026664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3090672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</a:rPr>
              <a:t>Mathematical Foundations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831336"/>
            <a:ext cx="475488" cy="475488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3831336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3895344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</a:rPr>
              <a:t>Model Architectures + NLL Derivation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636008"/>
            <a:ext cx="475488" cy="475488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4636008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700016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</a:rPr>
              <a:t>Backpropagation Derivation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440680"/>
            <a:ext cx="475488" cy="475488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544068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" y="5504688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</a:rPr>
              <a:t>Implementation Sanity Checks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1417320"/>
            <a:ext cx="475488" cy="475488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141732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76288" y="1481328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</a:rPr>
              <a:t>Datasets &amp; Experimental Protocol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2221992"/>
            <a:ext cx="475488" cy="475488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09360" y="2221992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76288" y="2286000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</a:rPr>
              <a:t>Core Results: Gaussian · Moons · Digits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3026664"/>
            <a:ext cx="475488" cy="475488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3026664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76288" y="3090672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</a:rPr>
              <a:t>Ablation Study &amp; Optimizer Comparison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9360" y="3831336"/>
            <a:ext cx="475488" cy="475488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09360" y="3831336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76288" y="3895344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</a:rPr>
              <a:t>Optimizer Training Curves (per-optimizer detail)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09360" y="4636008"/>
            <a:ext cx="475488" cy="475488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09360" y="4636008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76288" y="4700016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</a:rPr>
              <a:t>Failure Case Analysis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09360" y="5440680"/>
            <a:ext cx="475488" cy="475488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09360" y="544068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76288" y="5504688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</a:rPr>
              <a:t>Repeated-Seed Statistics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09360" y="6245352"/>
            <a:ext cx="475488" cy="475488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09360" y="6245352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13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76288" y="6309360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</a:rPr>
              <a:t>Track B · Key Numbers · 5 Interpretive Qs · Limits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Central Question &amp; Project Framing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315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5A623"/>
                </a:solidFill>
              </a:rPr>
              <a:t>What this capstone asks — and why it matters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</a:rPr>
              <a:t>Math4AI Capstone  |  National AI Center  | 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11274552" cy="123444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08760"/>
            <a:ext cx="108813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</a:rPr>
              <a:t>"When does a one-hidden-layer nonlinear classifier genuinely improve on
a linear decision rule, and when is additional model complexity unnecessary?"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34640"/>
            <a:ext cx="1127455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>
                <a:solidFill>
                  <a:srgbClr val="1A1A2E"/>
                </a:solidFill>
              </a:rPr>
              <a:t>•  More complex models are NOT automatically better — complexity must earn its way through evidence.</a:t>
            </a:r>
          </a:p>
          <a:p>
            <a:pPr algn="l"/>
            <a:r>
              <a:rPr sz="1700">
                <a:solidFill>
                  <a:srgbClr val="1A1A2E"/>
                </a:solidFill>
              </a:rPr>
              <a:t>•  Comparison is fair: same data split, same preprocessing, validation-only model selection.</a:t>
            </a:r>
          </a:p>
          <a:p>
            <a:pPr algn="l"/>
            <a:r>
              <a:rPr sz="1700">
                <a:solidFill>
                  <a:srgbClr val="1A1A2E"/>
                </a:solidFill>
              </a:rPr>
              <a:t>•  Connects Math4AI to ML: Linear Algebra · Calculus (chain rule) · Probability (MLE).</a:t>
            </a:r>
          </a:p>
          <a:p>
            <a:pPr algn="l"/>
            <a:r>
              <a:rPr sz="1700">
                <a:solidFill>
                  <a:srgbClr val="1A1A2E"/>
                </a:solidFill>
              </a:rPr>
              <a:t>•  All models implemented from scratch in NumPy — every equation written by the team.</a:t>
            </a:r>
          </a:p>
          <a:p>
            <a:pPr algn="l"/>
            <a:r>
              <a:rPr sz="1700">
                <a:solidFill>
                  <a:srgbClr val="1A1A2E"/>
                </a:solidFill>
              </a:rPr>
              <a:t>•  Strong result: knowing when the simple model is sufficient is as important as improving 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Notation Reference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315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5A623"/>
                </a:solidFill>
              </a:rPr>
              <a:t>Symbols used consistently throughout this presentation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</a:rPr>
              <a:t>Math4AI Capstone  |  National AI Center  | 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5669280" cy="384048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417320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Symbol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417320"/>
            <a:ext cx="4297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Meaning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801368"/>
            <a:ext cx="5669280" cy="557784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" y="1883664"/>
            <a:ext cx="1005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1F44"/>
                </a:solidFill>
              </a:rPr>
              <a:t>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1883664"/>
            <a:ext cx="4297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Input feature vector for one example   (x ∈ ℝᵈ)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377440"/>
            <a:ext cx="5669280" cy="5577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768" y="2459736"/>
            <a:ext cx="1005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1F44"/>
                </a:solidFill>
              </a:rPr>
              <a:t>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2459736"/>
            <a:ext cx="4297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True class label for one example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953512"/>
            <a:ext cx="5669280" cy="557784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" y="3035808"/>
            <a:ext cx="1005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1F44"/>
                </a:solidFill>
              </a:rPr>
              <a:t>W, 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3035808"/>
            <a:ext cx="4297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Weight matrices and bias vectors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529584"/>
            <a:ext cx="5669280" cy="5577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9768" y="3611880"/>
            <a:ext cx="1005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1F44"/>
                </a:solidFill>
              </a:rPr>
              <a:t>Z₁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3611880"/>
            <a:ext cx="4297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Hidden-layer pre-activations for a batch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4105656"/>
            <a:ext cx="5669280" cy="557784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9768" y="4187952"/>
            <a:ext cx="1005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1F44"/>
                </a:solidFill>
              </a:rPr>
              <a:t>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4187952"/>
            <a:ext cx="4297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Hidden representation for a batch   H = tanh(Z₁)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4681728"/>
            <a:ext cx="5669280" cy="5577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9768" y="4764024"/>
            <a:ext cx="1005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1F44"/>
                </a:solidFill>
              </a:rPr>
              <a:t>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4480" y="4764024"/>
            <a:ext cx="4297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Output scores / logits for a batch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5257800"/>
            <a:ext cx="5669280" cy="557784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9768" y="5340096"/>
            <a:ext cx="1005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1F44"/>
                </a:solidFill>
              </a:rPr>
              <a:t>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54480" y="5340096"/>
            <a:ext cx="4297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Matrix of predicted class probabilities   P = softmax(S)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5833872"/>
            <a:ext cx="5669280" cy="5577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9768" y="5916168"/>
            <a:ext cx="1005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1F44"/>
                </a:solidFill>
              </a:rPr>
              <a:t>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54480" y="5916168"/>
            <a:ext cx="4297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One-hot label matrix for a batch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09359" y="1417320"/>
            <a:ext cx="5669280" cy="384048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799" y="1417320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Symbol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89519" y="1417320"/>
            <a:ext cx="4297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Meaning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09359" y="1801368"/>
            <a:ext cx="5669280" cy="557784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19088" y="1883664"/>
            <a:ext cx="1005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1F44"/>
                </a:solidFill>
              </a:rPr>
              <a:t>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43800" y="1883664"/>
            <a:ext cx="4297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Batch size / number of examples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09359" y="2377440"/>
            <a:ext cx="5669280" cy="5577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19088" y="2459736"/>
            <a:ext cx="1005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1F44"/>
                </a:solidFill>
              </a:rPr>
              <a:t>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43800" y="2459736"/>
            <a:ext cx="4297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Input dimension   (digits: d = 64)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09359" y="2953512"/>
            <a:ext cx="5669280" cy="557784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19088" y="3035808"/>
            <a:ext cx="1005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1F44"/>
                </a:solidFill>
              </a:rPr>
              <a:t>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543800" y="3035808"/>
            <a:ext cx="4297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Number of classes   (binary: k = 2,  digits: k = 10)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309359" y="3529584"/>
            <a:ext cx="5669280" cy="5577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19088" y="3611880"/>
            <a:ext cx="1005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1F44"/>
                </a:solidFill>
              </a:rPr>
              <a:t>H (width)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43800" y="3611880"/>
            <a:ext cx="4297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Hidden layer width   (default = 32)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309359" y="4105656"/>
            <a:ext cx="5669280" cy="557784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19088" y="4187952"/>
            <a:ext cx="1005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1F44"/>
                </a:solidFill>
              </a:rPr>
              <a:t>λ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543800" y="4187952"/>
            <a:ext cx="4297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L2 regularization coefficient   (λ = 10⁻⁴)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309359" y="4681728"/>
            <a:ext cx="5669280" cy="5577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19088" y="4764024"/>
            <a:ext cx="1005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1F44"/>
                </a:solidFill>
              </a:rPr>
              <a:t>η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543800" y="4764024"/>
            <a:ext cx="4297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Learning rate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309359" y="5257800"/>
            <a:ext cx="5669280" cy="557784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19088" y="5340096"/>
            <a:ext cx="1005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1F44"/>
                </a:solidFill>
              </a:rPr>
              <a:t>⊙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543800" y="5340096"/>
            <a:ext cx="4297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Element-wise (Hadamard) product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Mathematical Foundations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315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5A623"/>
                </a:solidFill>
              </a:rPr>
              <a:t>Bridging Math4AI coursework to supervised learning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</a:rPr>
              <a:t>Math4AI Capstone  |  National AI Center  | 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3749039" cy="457200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41732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Linear Algebra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874519"/>
            <a:ext cx="3749039" cy="4434840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011680"/>
            <a:ext cx="3474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•  Affine score functions:  s = Wx + 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063240"/>
            <a:ext cx="3474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•  Vectorized batch computation: Z₁ = XW₁ᵀ + 1b₁ᵀ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114800"/>
            <a:ext cx="3474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•  Hidden representations as matrix products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166360"/>
            <a:ext cx="3474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•  Decision boundary:  sⱼ(x) = sₗ(x)  →  hyperplane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70248" y="1417320"/>
            <a:ext cx="3749039" cy="457200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70248" y="141732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Calculus &amp; Optimization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70248" y="1874519"/>
            <a:ext cx="3749039" cy="4434840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07408" y="2011680"/>
            <a:ext cx="3474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•  Gradient descent: θ ← θ − η ∇L(θ)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07408" y="3063240"/>
            <a:ext cx="3474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•  Chain rule → backpropagation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07408" y="4114800"/>
            <a:ext cx="3474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•  Tanh derivative: d/dz tanh(z) = 1 − tanh²(z)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07408" y="5166360"/>
            <a:ext cx="3474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•  Optimizers: SGD · Momentum · Adam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0456" y="1417320"/>
            <a:ext cx="3749039" cy="457200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0456" y="141732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Probability &amp; Statistics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0456" y="1874519"/>
            <a:ext cx="3749039" cy="4434840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57616" y="2011680"/>
            <a:ext cx="3474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•  Softmax = valid categorical distribution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57616" y="3063240"/>
            <a:ext cx="3474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•  Cross-entropy = negative log-likelihood (MLE)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57616" y="4114800"/>
            <a:ext cx="3474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•  Confidence interval: x̄ ± 2.776 · s/√5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57616" y="5166360"/>
            <a:ext cx="3474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•  Predictive entropy: H = −Σ pⱼ log pⱼ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Model 1: Softmax Regression  +  NLL Derivation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315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5A623"/>
                </a:solidFill>
              </a:rPr>
              <a:t>Required §6.1: why cross-entropy = negative log-likelihood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</a:rPr>
              <a:t>Math4AI Capstone  |  National AI Center  | 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417320"/>
            <a:ext cx="5394960" cy="4846320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53619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5FA8"/>
                </a:solidFill>
              </a:rPr>
              <a:t>Score &amp; probability: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883664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A1F44"/>
                </a:solidFill>
              </a:rPr>
              <a:t>s(x) = Wx + 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340864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A1F44"/>
                </a:solidFill>
              </a:rPr>
              <a:t>pⱼ(x) = exp(sⱼ) / Σ exp(sₗ)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907792"/>
            <a:ext cx="5394960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99923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5FA8"/>
                </a:solidFill>
              </a:rPr>
              <a:t>NLL derivation  (§6.1 required):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401568"/>
            <a:ext cx="5394960" cy="457200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3429000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1.  Model: P(Y=y | x) = p_y(x)   [categorical distribution]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877056"/>
            <a:ext cx="5394960" cy="457200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" y="3904487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2.  Likelihood of one example:  ℒ = p_y(x)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352544"/>
            <a:ext cx="5394960" cy="457200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" y="4379976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3.  Log-likelihood:  log ℒ = log p_y(x)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828032"/>
            <a:ext cx="5394960" cy="457200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5488" y="4855464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4.  Negate to get loss:  L = −log p_y(x)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303520"/>
            <a:ext cx="5394960" cy="457200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" y="5330952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5.  Avg over n examples:  L̄ = −(1/n) Σᵢ log p_{yᵢ}(xᵢ)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5779008"/>
            <a:ext cx="5394960" cy="457200"/>
          </a:xfrm>
          <a:prstGeom prst="rect">
            <a:avLst/>
          </a:prstGeom>
          <a:solidFill>
            <a:srgbClr val="D8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5488" y="5806440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1F44"/>
                </a:solidFill>
              </a:rPr>
              <a:t>⟹  Minimizing CE ≡ maximizing log-likelihood (MLE)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141732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5FA8"/>
                </a:solidFill>
              </a:rPr>
              <a:t>Key Properties</a:t>
            </a:r>
          </a:p>
          <a:p>
            <a:pPr algn="l"/>
            <a:r>
              <a:rPr sz="1600">
                <a:solidFill>
                  <a:srgbClr val="1A1A2E"/>
                </a:solidFill>
              </a:rPr>
              <a:t>  •  W ∈ ℝᵏˣᵈ, b ∈ ℝᵏ — all class boundaries are linear.</a:t>
            </a:r>
          </a:p>
          <a:p>
            <a:pPr algn="l"/>
            <a:r>
              <a:rPr sz="1600">
                <a:solidFill>
                  <a:srgbClr val="1A1A2E"/>
                </a:solidFill>
              </a:rPr>
              <a:t>  •  Decision boundary sⱼ = sₗ → hyperplane in input space.</a:t>
            </a:r>
          </a:p>
          <a:p>
            <a:pPr algn="l"/>
            <a:r>
              <a:rPr sz="1600">
                <a:solidFill>
                  <a:srgbClr val="1A1A2E"/>
                </a:solidFill>
              </a:rPr>
              <a:t>  •  CE is not arbitrary: it IS the MLE objective.</a:t>
            </a:r>
          </a:p>
          <a:p>
            <a:pPr algn="l"/>
            <a:r>
              <a:rPr sz="1600">
                <a:solidFill>
                  <a:srgbClr val="1A1A2E"/>
                </a:solidFill>
              </a:rPr>
              <a:t>  •  Gaussian blobs: linear boundary is geometrically correct.</a:t>
            </a:r>
          </a:p>
          <a:p>
            <a:pPr algn="l"/>
            <a:r>
              <a:rPr sz="1600">
                <a:solidFill>
                  <a:srgbClr val="1A1A2E"/>
                </a:solidFill>
              </a:rPr>
              <a:t>  •  Training: mini-batch SGD, lr=0.05, λ=10⁻⁴ L2, 200 epochs.</a:t>
            </a:r>
          </a:p>
          <a:p>
            <a:pPr algn="l"/>
            <a:r>
              <a:rPr sz="1600">
                <a:solidFill>
                  <a:srgbClr val="1A1A2E"/>
                </a:solidFill>
              </a:rPr>
              <a:t>  •  Model selection: best val cross-entropy checkpoint.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Model 2: One-Hidden-Layer Neural Network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315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5A623"/>
                </a:solidFill>
              </a:rPr>
              <a:t>Nonlinear decision boundaries via learned feature representations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</a:rPr>
              <a:t>Math4AI Capstone  |  National AI Center  | 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417320"/>
            <a:ext cx="5303520" cy="4846320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53619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5FA8"/>
                </a:solidFill>
              </a:rPr>
              <a:t>Vectorized forward pass (batch):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4846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1F44"/>
                </a:solidFill>
              </a:rPr>
              <a:t>Z₁ = X W₁ᵀ + 1 b₁ᵀ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560320"/>
            <a:ext cx="4846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1F44"/>
                </a:solidFill>
              </a:rPr>
              <a:t>H  = tanh(Z₁)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182112"/>
            <a:ext cx="4846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1F44"/>
                </a:solidFill>
              </a:rPr>
              <a:t>S  = H W₂ᵀ + 1 b₂ᵀ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803904"/>
            <a:ext cx="4846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1F44"/>
                </a:solidFill>
              </a:rPr>
              <a:t>P  = softmax_row(S)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48056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5FA8"/>
                </a:solidFill>
              </a:rPr>
              <a:t>Why tanh?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828032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Smooth · zero-centered · clean derivative:
d/dz tanh(z) = 1 − tanh²(z)  (no piecewise needed)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1417320"/>
            <a:ext cx="5943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5FA8"/>
                </a:solidFill>
              </a:rPr>
              <a:t>Key Properties</a:t>
            </a:r>
          </a:p>
          <a:p>
            <a:pPr algn="l"/>
            <a:r>
              <a:rPr sz="1600">
                <a:solidFill>
                  <a:srgbClr val="1A1A2E"/>
                </a:solidFill>
              </a:rPr>
              <a:t>  •  W₁ ∈ ℝᴴˣᵈ,  W₂ ∈ ℝᵏˣᴴ   (default hidden width H = 32).</a:t>
            </a:r>
          </a:p>
          <a:p>
            <a:pPr algn="l"/>
            <a:r>
              <a:rPr sz="1600">
                <a:solidFill>
                  <a:srgbClr val="1A1A2E"/>
                </a:solidFill>
              </a:rPr>
              <a:t>  •  Hidden layer = learned nonlinear feature map.</a:t>
            </a:r>
          </a:p>
          <a:p>
            <a:pPr algn="l"/>
            <a:r>
              <a:rPr sz="1600">
                <a:solidFill>
                  <a:srgbClr val="1A1A2E"/>
                </a:solidFill>
              </a:rPr>
              <a:t>  •  Decision boundaries can curve to fit non-convex regions.</a:t>
            </a:r>
          </a:p>
          <a:p>
            <a:pPr algn="l"/>
            <a:r>
              <a:rPr sz="1600">
                <a:solidFill>
                  <a:srgbClr val="1A1A2E"/>
                </a:solidFill>
              </a:rPr>
              <a:t>  •  tanh chosen for pedagogical clarity — smooth derivative.</a:t>
            </a:r>
          </a:p>
          <a:p>
            <a:pPr algn="l"/>
            <a:r>
              <a:rPr sz="1600">
                <a:solidFill>
                  <a:srgbClr val="1A1A2E"/>
                </a:solidFill>
              </a:rPr>
              <a:t>  •  Same softmax output + cross-entropy loss as the baseline.</a:t>
            </a:r>
          </a:p>
          <a:p>
            <a:pPr algn="l"/>
            <a:r>
              <a:rPr sz="1600">
                <a:solidFill>
                  <a:srgbClr val="1A1A2E"/>
                </a:solidFill>
              </a:rPr>
              <a:t>  •  L2 regularization λ=10⁻⁴ on all weight matrices.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Backpropagation: Full Vectorized Derivation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315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5A623"/>
                </a:solidFill>
              </a:rPr>
              <a:t>Chain rule applied layer by layer — not magic, just bookkeeping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</a:rPr>
              <a:t>Math4AI Capstone  |  National AI Center  | 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426464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</a:rPr>
              <a:t>Forward: X → Z₁ → H → S → P → L.   Backward: propagate ∂L/∂(·) in reverse.  Each local derivative is simple; chain rule assembles them.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148840"/>
            <a:ext cx="5669280" cy="1261872"/>
          </a:xfrm>
          <a:prstGeom prst="rect">
            <a:avLst/>
          </a:prstGeom>
          <a:solidFill>
            <a:srgbClr val="E4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2148840"/>
            <a:ext cx="5669280" cy="347472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2194560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Output sensitivity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2569464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A1F44"/>
                </a:solidFill>
              </a:rPr>
              <a:t>∂L/∂S  =  (1/n)(P − Y)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5080" y="2148840"/>
            <a:ext cx="5669280" cy="1261872"/>
          </a:xfrm>
          <a:prstGeom prst="rect">
            <a:avLst/>
          </a:prstGeom>
          <a:solidFill>
            <a:srgbClr val="E4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5080" y="2148840"/>
            <a:ext cx="5669280" cy="347472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4808" y="2194560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Output weights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4808" y="2569464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A1F44"/>
                </a:solidFill>
              </a:rPr>
              <a:t>∂L/∂W₂ = (∂L/∂S)ᵀ 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566160"/>
            <a:ext cx="5669280" cy="1261872"/>
          </a:xfrm>
          <a:prstGeom prst="rect">
            <a:avLst/>
          </a:prstGeom>
          <a:solidFill>
            <a:srgbClr val="E4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3566160"/>
            <a:ext cx="5669280" cy="347472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" y="3611880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Output bias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" y="3986784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A1F44"/>
                </a:solidFill>
              </a:rPr>
              <a:t>∂L/∂b₂ = (∂L/∂S)ᵀ 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5080" y="3566160"/>
            <a:ext cx="5669280" cy="1261872"/>
          </a:xfrm>
          <a:prstGeom prst="rect">
            <a:avLst/>
          </a:prstGeom>
          <a:solidFill>
            <a:srgbClr val="E4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5080" y="3566160"/>
            <a:ext cx="5669280" cy="347472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64808" y="3611880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Hidden pre-activation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64808" y="3986784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A1F44"/>
                </a:solidFill>
              </a:rPr>
              <a:t>∂L/∂Z₁ = (∂L/∂S) W₂ ⊙ (1 − H⊙H)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983480"/>
            <a:ext cx="5669280" cy="1261872"/>
          </a:xfrm>
          <a:prstGeom prst="rect">
            <a:avLst/>
          </a:prstGeom>
          <a:solidFill>
            <a:srgbClr val="E4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" y="4983480"/>
            <a:ext cx="5669280" cy="347472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5488" y="5029200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Hidden weights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" y="5404104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A1F44"/>
                </a:solidFill>
              </a:rPr>
              <a:t>∂L/∂W₁ = (∂L/∂Z₁)ᵀ X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55080" y="4983480"/>
            <a:ext cx="5669280" cy="1261872"/>
          </a:xfrm>
          <a:prstGeom prst="rect">
            <a:avLst/>
          </a:prstGeom>
          <a:solidFill>
            <a:srgbClr val="E4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55080" y="4983480"/>
            <a:ext cx="5669280" cy="347472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64808" y="5029200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Hidden bias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64808" y="5404104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A1F44"/>
                </a:solidFill>
              </a:rPr>
              <a:t>∂L/∂b₁ = (∂L/∂Z₁)ᵀ 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64008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55577"/>
                </a:solidFill>
              </a:rPr>
              <a:t>⊙ = element-wise product.   (1 − H⊙H) = tanh derivative applied element-wise.   These are the matrix form of the same scalar chain rule from calculus.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Implementation Sanity Checks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315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5A623"/>
                </a:solidFill>
              </a:rPr>
              <a:t>Required verification discipline — evidence of correct implementation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</a:rPr>
              <a:t>Math4AI Capstone  |  National AI Center  | 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26464"/>
            <a:ext cx="5669280" cy="1508760"/>
          </a:xfrm>
          <a:prstGeom prst="rect">
            <a:avLst/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26464"/>
            <a:ext cx="5669280" cy="36576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481328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Gradient Sanity 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847088"/>
            <a:ext cx="53949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Numerical gradient (finite differences) vs analytical gradient on selected
parameter entries. Relative error &lt; 10⁻⁶ on tiny batch. ✓ Passed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59" y="1426464"/>
            <a:ext cx="5669280" cy="1508760"/>
          </a:xfrm>
          <a:prstGeom prst="rect">
            <a:avLst/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59" y="1426464"/>
            <a:ext cx="5669280" cy="36576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1481328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Probability Sum Check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1847088"/>
            <a:ext cx="53949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Confirmed: Σⱼ pⱼ(x) = 1.0 for every example in every batch.
No NaN or Inf detected at any training step. ✓ Passed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3090672"/>
            <a:ext cx="5669280" cy="1508760"/>
          </a:xfrm>
          <a:prstGeom prst="rect">
            <a:avLst/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3090672"/>
            <a:ext cx="5669280" cy="36576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" y="3145536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Loss Decrease on Tiny Subset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" y="3511296"/>
            <a:ext cx="53949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Ran 50 gradient steps on 5 training examples — loss decreased
monotonically from ~2.3 (random init) to &lt;0.01. ✓ Passed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59" y="3090672"/>
            <a:ext cx="5669280" cy="1508760"/>
          </a:xfrm>
          <a:prstGeom prst="rect">
            <a:avLst/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9359" y="3090672"/>
            <a:ext cx="5669280" cy="36576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19088" y="3145536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Tiny-Subset Overfitting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9088" y="3511296"/>
            <a:ext cx="53949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NN with width 32 achieves 100% training accuracy on 10 examples
within 100 epochs — confirms correct forward + backward pass. ✓ Passed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4754880"/>
            <a:ext cx="5669280" cy="1508760"/>
          </a:xfrm>
          <a:prstGeom prst="rect">
            <a:avLst/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4754880"/>
            <a:ext cx="5669280" cy="36576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9768" y="4809744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NaN/Inf Guard (Numerically Stable Softmax)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" y="5175504"/>
            <a:ext cx="53949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Implemented log-sum-exp trick: softmax(s) = softmax(s − max(s)).
No NaN/Inf observed across all seeds and all datasets. ✓ Passed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59" y="4754880"/>
            <a:ext cx="5669280" cy="1508760"/>
          </a:xfrm>
          <a:prstGeom prst="rect">
            <a:avLst/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09359" y="4754880"/>
            <a:ext cx="5669280" cy="36576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19088" y="4809744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Cross-Entropy Sanity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19088" y="5175504"/>
            <a:ext cx="53949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At random init (uniform probs for k=10): CE ≈ log(10) ≈ 2.303.
Observed: 2.301 ± 0.01 — matches theoretical expectation. ✓ Passed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Datasets &amp; Experimental Protocol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315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5A623"/>
                </a:solidFill>
              </a:rPr>
              <a:t>Three tasks designed for geometric clarity and reproducibility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</a:rPr>
              <a:t>Math4AI Capstone  |  National AI Center  | 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26464"/>
            <a:ext cx="3749039" cy="45720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426464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Linear Gaussian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883664"/>
            <a:ext cx="3749039" cy="2057400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79" y="1993392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•  Two Gaussian blobs with mild class overlap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2651760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•  Linear boundary is geometrically correct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79" y="3310128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•  Tests: is linear structure sufficient?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70248" y="1426464"/>
            <a:ext cx="3749039" cy="45720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70248" y="1426464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Moons (Nonlinear)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70248" y="1883664"/>
            <a:ext cx="3749039" cy="2057400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61688" y="1993392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•  Two interleaved crescent-shaped clusters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61688" y="2651760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•  No linear boundary can separate the classes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61688" y="3310128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•  Tests: representational power of hidden layer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0456" y="1426464"/>
            <a:ext cx="3749039" cy="45720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0456" y="1426464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Digits Benchmark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0456" y="1883664"/>
            <a:ext cx="3749039" cy="2057400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11896" y="1993392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•  1,797 images · 10 classes · 64-dim features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11896" y="2651760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•  Fixed train/val/test split — identical for all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11896" y="3310128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•  Scaled to [0,1] — no additional preprocessing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4114800"/>
            <a:ext cx="11548872" cy="2240280"/>
          </a:xfrm>
          <a:prstGeom prst="rect">
            <a:avLst/>
          </a:prstGeom>
          <a:solidFill>
            <a:srgbClr val="FFF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418795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5FA8"/>
                </a:solidFill>
              </a:rPr>
              <a:t>Shared Experimental Contract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572000"/>
            <a:ext cx="112471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1A1A2E"/>
                </a:solidFill>
              </a:rPr>
              <a:t>•  Same train/val/test split and same preprocessing for BOTH models — fair comparison guaranteed.</a:t>
            </a:r>
          </a:p>
          <a:p>
            <a:pPr algn="l"/>
            <a:r>
              <a:rPr sz="1500">
                <a:solidFill>
                  <a:srgbClr val="1A1A2E"/>
                </a:solidFill>
              </a:rPr>
              <a:t>•  Model selection: use validation cross-entropy only. Test set touched exactly once per seed.</a:t>
            </a:r>
          </a:p>
          <a:p>
            <a:pPr algn="l"/>
            <a:r>
              <a:rPr sz="1500">
                <a:solidFill>
                  <a:srgbClr val="1A1A2E"/>
                </a:solidFill>
              </a:rPr>
              <a:t>•  Epoch budget: 200 epochs, best-val-CE checkpoint used for digits reporting.</a:t>
            </a:r>
          </a:p>
          <a:p>
            <a:pPr algn="l"/>
            <a:r>
              <a:rPr sz="1500">
                <a:solidFill>
                  <a:srgbClr val="1A1A2E"/>
                </a:solidFill>
              </a:rPr>
              <a:t>•  Repeated seeds: 5 seeds on digits benchmark → means + 95% CI (t-dist, df=4, factor=2.776).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Core Experiment 1: Linear Gaussian Task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315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5A623"/>
                </a:solidFill>
              </a:rPr>
              <a:t>When a linear boundary is already sufficient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</a:rPr>
              <a:t>Math4AI Capstone  |  National AI Center  |  2026</a:t>
            </a:r>
          </a:p>
        </p:txBody>
      </p:sp>
      <p:pic>
        <p:nvPicPr>
          <p:cNvPr id="8" name="Picture 7" descr="gaussian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26464"/>
            <a:ext cx="7223760" cy="48463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680960" y="1426464"/>
            <a:ext cx="4206240" cy="484632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18120" y="1517904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5FA8"/>
                </a:solidFill>
              </a:rPr>
              <a:t>Test Results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2011680"/>
            <a:ext cx="2926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Softmax accuracy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44200" y="2011680"/>
            <a:ext cx="1828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0A1F44"/>
                </a:solidFill>
              </a:rPr>
              <a:t>95.0%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2487168"/>
            <a:ext cx="2926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NN (H=32) accuracy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44200" y="2487168"/>
            <a:ext cx="1828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0A1F44"/>
                </a:solidFill>
              </a:rPr>
              <a:t>95.0%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2962656"/>
            <a:ext cx="2926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Softmax 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44200" y="2962656"/>
            <a:ext cx="1828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0A1F44"/>
                </a:solidFill>
              </a:rPr>
              <a:t>0.1539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8120" y="3438144"/>
            <a:ext cx="2926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NN 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44200" y="3438144"/>
            <a:ext cx="1828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0A1F44"/>
                </a:solidFill>
              </a:rPr>
              <a:t>0.1555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80960" y="4005072"/>
            <a:ext cx="420624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18120" y="41148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5FA8"/>
                </a:solidFill>
              </a:rPr>
              <a:t>Geometric explanation  (§6.4 required)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8120" y="4526280"/>
            <a:ext cx="397763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Two Gaussians with equal covariance: the log-posterior ratio log P(y=1|x) − log P(y=0|x) is linear in x (Bayes optimal rule). Softmax regression models exactly this structure. The hidden layer adds no useful nonlinearity — the boundary is already affine. Extra complexity is unjustified by evidence.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Core Experiment 2: Moons Task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315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5A623"/>
                </a:solidFill>
              </a:rPr>
              <a:t>Where the hidden layer changes the geometry of the decision boundary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</a:rPr>
              <a:t>Math4AI Capstone  |  National AI Center  |  2026</a:t>
            </a:r>
          </a:p>
        </p:txBody>
      </p:sp>
      <p:pic>
        <p:nvPicPr>
          <p:cNvPr id="8" name="Picture 7" descr="moons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26464"/>
            <a:ext cx="7223760" cy="48463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680960" y="1426464"/>
            <a:ext cx="4206240" cy="484632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18120" y="1517904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5FA8"/>
                </a:solidFill>
              </a:rPr>
              <a:t>Test Results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2011680"/>
            <a:ext cx="2926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Softmax accuracy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44200" y="2011680"/>
            <a:ext cx="1828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0A1F44"/>
                </a:solidFill>
              </a:rPr>
              <a:t>85.0%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2487168"/>
            <a:ext cx="2926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NN (H=32) accuracy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44200" y="2487168"/>
            <a:ext cx="1828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0A1F44"/>
                </a:solidFill>
              </a:rPr>
              <a:t>85.0%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2962656"/>
            <a:ext cx="2926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Softmax 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44200" y="2962656"/>
            <a:ext cx="1828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0A1F44"/>
                </a:solidFill>
              </a:rPr>
              <a:t>0.2852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8120" y="3438144"/>
            <a:ext cx="2926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NN 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44200" y="3438144"/>
            <a:ext cx="1828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0A1F44"/>
                </a:solidFill>
              </a:rPr>
              <a:t>0.2695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80960" y="4005072"/>
            <a:ext cx="420624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18120" y="41148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5FA8"/>
                </a:solidFill>
              </a:rPr>
              <a:t>Geometric explanation  (§6.4 required)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8120" y="4526280"/>
            <a:ext cx="397763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Moons: the two classes wrap around each other — no affine function of x can separate them (the Bayes boundary is curved). A linear model cannot express this geometry; any hyperplane leaves one crescent partially misclassified. The NN's hidden layer transforms x via tanh, creating a space where the classes become separable.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Core Experiment 3: Digits Benchmark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315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5A623"/>
                </a:solidFill>
              </a:rPr>
              <a:t>10-class classification — training dynamics and model comparison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</a:rPr>
              <a:t>Math4AI Capstone  |  National AI Center  |  2026</a:t>
            </a:r>
          </a:p>
        </p:txBody>
      </p:sp>
      <p:pic>
        <p:nvPicPr>
          <p:cNvPr id="8" name="Picture 7" descr="digits_training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26464"/>
            <a:ext cx="7223760" cy="48463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680960" y="1426464"/>
            <a:ext cx="4206240" cy="484632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18120" y="1517904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5FA8"/>
                </a:solidFill>
              </a:rPr>
              <a:t>Single-Run Results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18120" y="1993392"/>
            <a:ext cx="1965960" cy="36576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8120" y="1993392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Model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784080" y="1993392"/>
            <a:ext cx="1051560" cy="36576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80" y="1993392"/>
            <a:ext cx="1051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Acc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835640" y="1993392"/>
            <a:ext cx="960120" cy="36576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835640" y="1993392"/>
            <a:ext cx="960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18120" y="2395728"/>
            <a:ext cx="1965960" cy="475488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18120" y="2441448"/>
            <a:ext cx="1965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Softmax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784080" y="2395728"/>
            <a:ext cx="1051560" cy="475488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80" y="2441448"/>
            <a:ext cx="1051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94.02%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835640" y="2395728"/>
            <a:ext cx="960120" cy="475488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835640" y="2441448"/>
            <a:ext cx="960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0.270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818120" y="2907792"/>
            <a:ext cx="196596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18120" y="2953512"/>
            <a:ext cx="1965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NN (SGD)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784080" y="2907792"/>
            <a:ext cx="105156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84080" y="2953512"/>
            <a:ext cx="1051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94.02%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835640" y="2907792"/>
            <a:ext cx="9601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835640" y="2953512"/>
            <a:ext cx="960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0.193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680960" y="3566160"/>
            <a:ext cx="4206240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18120" y="3657600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5FA8"/>
                </a:solidFill>
              </a:rPr>
              <a:t>Key insight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18120" y="4041648"/>
            <a:ext cx="397763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Accuracy is identical (94.02%) but NN achieves 28% lower cross-entropy (0.193 vs 0.270). Accuracy alone is misleading — CE reveals that NN assigns sharper, better-calibrated probabilities to correct classes.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680960" y="5577840"/>
            <a:ext cx="4206240" cy="36576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18120" y="5669280"/>
            <a:ext cx="39776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1F44"/>
                </a:solidFill>
              </a:rPr>
              <a:t>NN CE reduction: 0.270 → 0.193  =  28% improvement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Ablation Study: Capacity on Moons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315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5A623"/>
                </a:solidFill>
              </a:rPr>
              <a:t>Hidden widths {2, 8, 32} — how boundary complexity scales with neurons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</a:rPr>
              <a:t>Math4AI Capstone  |  National AI Center  |  2026</a:t>
            </a:r>
          </a:p>
        </p:txBody>
      </p:sp>
      <p:pic>
        <p:nvPicPr>
          <p:cNvPr id="8" name="Picture 7" descr="moons_capacity_ab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26464"/>
            <a:ext cx="8229600" cy="48463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686800" y="1426464"/>
            <a:ext cx="3200400" cy="484632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686800" y="1517904"/>
            <a:ext cx="3200400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0" y="1517904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Width =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0" y="1883664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Only 2 hidden neurons. Cannot span the crescent geometry. Boundary stays near-linear → under-capacity failure.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0" y="3090672"/>
            <a:ext cx="3200400" cy="347472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0" y="309067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Width = 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0" y="3456432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8 neurons begin to approximate the curvature. Reasonable fit; lower CE than width-2, boundary starts to curve.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0" y="4663440"/>
            <a:ext cx="3200400" cy="34747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0" y="466344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Width = 32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502920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Default setting. Full crescent separation achieved. Boundary correctly wraps both moon shapes → lowest CE.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32520" y="603504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1A1A2E"/>
                </a:solidFill>
              </a:rPr>
              <a:t>Key insight: capacity is a geometric constraint — insufficient neurons = insufficient representational span.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Optimizer Study: Digits Benchmark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315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5A623"/>
                </a:solidFill>
              </a:rPr>
              <a:t>SGD vs Momentum vs Adam — fixed conditions, H=32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</a:rPr>
              <a:t>Math4AI Capstone  |  National AI Center  |  2026</a:t>
            </a:r>
          </a:p>
        </p:txBody>
      </p:sp>
      <p:pic>
        <p:nvPicPr>
          <p:cNvPr id="8" name="Picture 7" descr="digits_optimizer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26464"/>
            <a:ext cx="7772400" cy="48463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229600" y="1426464"/>
            <a:ext cx="3657600" cy="484632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1517904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5FA8"/>
                </a:solidFill>
              </a:rPr>
              <a:t>Optimizer Comparison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01168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A1F44"/>
                </a:solidFill>
              </a:rPr>
              <a:t>SGD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23317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1A5FA8"/>
                </a:solidFill>
              </a:rPr>
              <a:t>lr = 0.05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60604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Steady convergence. No momentum; loss declines smoothly throughout 200 epochs.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34747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A1F44"/>
                </a:solidFill>
              </a:rPr>
              <a:t>Momentum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37947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1A5FA8"/>
                </a:solidFill>
              </a:rPr>
              <a:t>lr = 0.05, β = 0.9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406908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Faster initial descent. Accumulated gradients accelerate convergence direction.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49377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A1F44"/>
                </a:solidFill>
              </a:rPr>
              <a:t>Adam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525780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1A5FA8"/>
                </a:solidFill>
              </a:rPr>
              <a:t>lr = 0.001, β₁=0.9, β₂=0.999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553212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Best final CE loss. Per-parameter adaptive rates overcome SGD's uniform step.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5989320"/>
            <a:ext cx="3657600" cy="548640"/>
          </a:xfrm>
          <a:prstGeom prst="rect">
            <a:avLst/>
          </a:prstGeom>
          <a:solidFill>
            <a:srgbClr val="E0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60350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Adam converges fastest; all reach similar test accuracy within 200 epochs.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Optimizer Training Curves — Per-Optimizer Detail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315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5A623"/>
                </a:solidFill>
              </a:rPr>
              <a:t>SGD · Momentum · Adam on digits benchmark (H=32, 200 epochs)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</a:rPr>
              <a:t>Math4AI Capstone  |  National AI Center  | 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426464"/>
            <a:ext cx="3749039" cy="347472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426464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SGD  (lr=0.05)</a:t>
            </a:r>
          </a:p>
        </p:txBody>
      </p:sp>
      <p:pic>
        <p:nvPicPr>
          <p:cNvPr id="10" name="Picture 9" descr="digits_nn_curves_sg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73936"/>
            <a:ext cx="3749039" cy="420624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4251959" y="1426464"/>
            <a:ext cx="3749039" cy="347472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51959" y="1426464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Momentum  (lr=0.05, β=0.9)</a:t>
            </a:r>
          </a:p>
        </p:txBody>
      </p:sp>
      <p:pic>
        <p:nvPicPr>
          <p:cNvPr id="13" name="Picture 12" descr="digits_nn_curves_momentu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59" y="1773936"/>
            <a:ext cx="3749039" cy="420624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8229600" y="1426464"/>
            <a:ext cx="3749039" cy="34747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426464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Adam  (lr=0.001)</a:t>
            </a:r>
          </a:p>
        </p:txBody>
      </p:sp>
      <p:pic>
        <p:nvPicPr>
          <p:cNvPr id="16" name="Picture 15" descr="digits_nn_curves_ad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1773936"/>
            <a:ext cx="3749039" cy="420624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274320" y="6053328"/>
            <a:ext cx="11640312" cy="502920"/>
          </a:xfrm>
          <a:prstGeom prst="rect">
            <a:avLst/>
          </a:prstGeom>
          <a:solidFill>
            <a:srgbClr val="FFF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608076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•  SGD: smooth but slow decline — still converging at epoch 200.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608076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•  Momentum: faster initial drop — oscillations visible early, then stabilises.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608076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•  Adam: sharpest early convergence — reaches low CE within ~50 epochs.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Failure Case Analysis: Width-2 NN on Moons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315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5A623"/>
                </a:solidFill>
              </a:rPr>
              <a:t>A capacity failure — the mechanism, not just the outcome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</a:rPr>
              <a:t>Math4AI Capstone  |  National AI Center  |  2026</a:t>
            </a:r>
          </a:p>
        </p:txBody>
      </p:sp>
      <p:pic>
        <p:nvPicPr>
          <p:cNvPr id="8" name="Picture 7" descr="failure_case_width2_mo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26464"/>
            <a:ext cx="6858000" cy="48463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315200" y="1426464"/>
            <a:ext cx="4572000" cy="484632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52360" y="1517904"/>
            <a:ext cx="4297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5FA8"/>
                </a:solidFill>
              </a:rPr>
              <a:t>Why it fails — mechanistic explanation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52360" y="2084831"/>
            <a:ext cx="4297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•  2 neurons → 2 learned feature directions in hidden space.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52360" y="2752344"/>
            <a:ext cx="4297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•  tanh activations span a 2D manifold — cannot represent crescent curvature.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52360" y="3419856"/>
            <a:ext cx="4297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•  Output layer receives only 2 numbers per input: insufficient to discriminate moons.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52360" y="4087368"/>
            <a:ext cx="4297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•  Result: boundary stays near-linear, unable to wrap around either crescent.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52360" y="4754879"/>
            <a:ext cx="4297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•  This is a capacity failure — not an optimizer issue, not a data issue.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52360" y="5422392"/>
            <a:ext cx="4297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•  Fix: increase hidden width (width=8 already improves significantly).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0" y="6016752"/>
            <a:ext cx="4572000" cy="548640"/>
          </a:xfrm>
          <a:prstGeom prst="rect">
            <a:avLst/>
          </a:prstGeom>
          <a:solidFill>
            <a:srgbClr val="FFE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52360" y="6062472"/>
            <a:ext cx="4389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1F44"/>
                </a:solidFill>
              </a:rPr>
              <a:t>Lesson: model capacity must match the geometric complexity of the task.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Repeated-Seed Statistics  (5 Seeds, Digits Benchmark)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315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5A623"/>
                </a:solidFill>
              </a:rPr>
              <a:t>95% confidence intervals reveal statistical significance of CE improvement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</a:rPr>
              <a:t>Math4AI Capstone  |  National AI Center  | 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426464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A1F44"/>
                </a:solidFill>
              </a:rPr>
              <a:t>Formula:  x̄ ± 2.776 · s/√5   (t-distribution, df = 4, two-sided 95% CI)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938528"/>
            <a:ext cx="1737360" cy="384048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938528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Model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57400" y="1938528"/>
            <a:ext cx="1645920" cy="384048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57400" y="1938528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Metric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03320" y="1938528"/>
            <a:ext cx="1371600" cy="384048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03320" y="1938528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Mean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74920" y="1938528"/>
            <a:ext cx="1234440" cy="384048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74920" y="1938528"/>
            <a:ext cx="1234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Std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1938528"/>
            <a:ext cx="1234440" cy="384048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1938528"/>
            <a:ext cx="1234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±CI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543800" y="1938528"/>
            <a:ext cx="1188720" cy="384048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43800" y="1938528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Lower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32520" y="1938528"/>
            <a:ext cx="1188720" cy="384048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32520" y="1938528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Upper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2359152"/>
            <a:ext cx="1737360" cy="484632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2386584"/>
            <a:ext cx="17373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Softmax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57400" y="2359152"/>
            <a:ext cx="1645920" cy="484632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057400" y="2386584"/>
            <a:ext cx="16459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Accuracy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703320" y="2359152"/>
            <a:ext cx="1371600" cy="484632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703320" y="2386584"/>
            <a:ext cx="1371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93.86%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74920" y="2359152"/>
            <a:ext cx="1234440" cy="484632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74920" y="2386584"/>
            <a:ext cx="1234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0.149%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2359152"/>
            <a:ext cx="1234440" cy="484632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2386584"/>
            <a:ext cx="1234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±0.185%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543800" y="2359152"/>
            <a:ext cx="1188720" cy="484632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543800" y="2386584"/>
            <a:ext cx="1188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93.67%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732520" y="2359152"/>
            <a:ext cx="1188720" cy="484632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732520" y="2386584"/>
            <a:ext cx="1188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94.04%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2871216"/>
            <a:ext cx="173736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0040" y="2898648"/>
            <a:ext cx="17373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Softmax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057400" y="2871216"/>
            <a:ext cx="164592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057400" y="2898648"/>
            <a:ext cx="16459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Cross-Entropy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703320" y="2871216"/>
            <a:ext cx="137160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703320" y="2898648"/>
            <a:ext cx="1371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0.26930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74920" y="2871216"/>
            <a:ext cx="123444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74920" y="2898648"/>
            <a:ext cx="1234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0.000351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309360" y="2871216"/>
            <a:ext cx="123444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09360" y="2898648"/>
            <a:ext cx="1234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±0.000436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543800" y="2871216"/>
            <a:ext cx="118872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543800" y="2898648"/>
            <a:ext cx="1188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0.26887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732520" y="2871216"/>
            <a:ext cx="118872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732520" y="2898648"/>
            <a:ext cx="1188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0.26974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20040" y="3383280"/>
            <a:ext cx="1737360" cy="484632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20040" y="3410712"/>
            <a:ext cx="17373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NN (SGD)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057400" y="3383280"/>
            <a:ext cx="1645920" cy="484632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057400" y="3410712"/>
            <a:ext cx="16459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Accuracy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703320" y="3383280"/>
            <a:ext cx="1371600" cy="484632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703320" y="3410712"/>
            <a:ext cx="1371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93.97%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074920" y="3383280"/>
            <a:ext cx="1234440" cy="484632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074920" y="3410712"/>
            <a:ext cx="1234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0.403%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309360" y="3383280"/>
            <a:ext cx="1234440" cy="484632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309360" y="3410712"/>
            <a:ext cx="1234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±0.500%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543800" y="3383280"/>
            <a:ext cx="1188720" cy="484632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543800" y="3410712"/>
            <a:ext cx="1188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93.47%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732520" y="3383280"/>
            <a:ext cx="1188720" cy="484632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732520" y="3410712"/>
            <a:ext cx="1188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94.47%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20040" y="3895344"/>
            <a:ext cx="173736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20040" y="3922776"/>
            <a:ext cx="17373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NN (SGD)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057400" y="3895344"/>
            <a:ext cx="164592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057400" y="3922776"/>
            <a:ext cx="16459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Cross-Entropy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703320" y="3895344"/>
            <a:ext cx="137160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703320" y="3922776"/>
            <a:ext cx="1371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0.19334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074920" y="3895344"/>
            <a:ext cx="123444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074920" y="3922776"/>
            <a:ext cx="1234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0.008268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309360" y="3895344"/>
            <a:ext cx="123444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309360" y="3922776"/>
            <a:ext cx="1234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±0.01026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543800" y="3895344"/>
            <a:ext cx="118872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543800" y="3922776"/>
            <a:ext cx="1188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0.18307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732520" y="3895344"/>
            <a:ext cx="118872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732520" y="3922776"/>
            <a:ext cx="1188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0.20360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20040" y="4453128"/>
            <a:ext cx="11548872" cy="2057400"/>
          </a:xfrm>
          <a:prstGeom prst="rect">
            <a:avLst/>
          </a:prstGeom>
          <a:solidFill>
            <a:srgbClr val="FFF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57200" y="4517136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5FA8"/>
                </a:solidFill>
              </a:rPr>
              <a:t>Statistical Interpretation  +  Answer to Required Q5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57200" y="4892040"/>
            <a:ext cx="11247120" cy="1581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2E"/>
                </a:solidFill>
              </a:rPr>
              <a:t>•  ACCURACY CIs OVERLAP: [93.67%, 94.04%] vs [93.47%, 94.47%] — no statistically significant accuracy difference.</a:t>
            </a:r>
          </a:p>
          <a:p>
            <a:pPr algn="l"/>
            <a:r>
              <a:rPr sz="1400">
                <a:solidFill>
                  <a:srgbClr val="1A1A2E"/>
                </a:solidFill>
              </a:rPr>
              <a:t>•  CROSS-ENTROPY CIs DO NOT OVERLAP: [0.2689, 0.2697] vs [0.1831, 0.2036] — NN CE improvement is statistically real.</a:t>
            </a:r>
          </a:p>
          <a:p>
            <a:pPr algn="l"/>
            <a:r>
              <a:rPr sz="1400">
                <a:solidFill>
                  <a:srgbClr val="1A1A2E"/>
                </a:solidFill>
              </a:rPr>
              <a:t>•  Q5 answer: A single run could by chance show either model leading on any metric. 5 seeds reveal that the CE gap is consistent (not luck) while the accuracy gap is noise — a single run cannot distinguish these two cases.</a:t>
            </a:r>
          </a:p>
          <a:p>
            <a:pPr algn="l"/>
            <a:r>
              <a:rPr sz="1400">
                <a:solidFill>
                  <a:srgbClr val="1A1A2E"/>
                </a:solidFill>
              </a:rPr>
              <a:t>•  NN variability (std 0.40%) &gt; Softmax (0.15%) — NN is more optimizer-sensitive; seeds expose this too.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Advanced Track B: Prediction Confidence &amp; Reliability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315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5A623"/>
                </a:solidFill>
              </a:rPr>
              <a:t>Entropy, calibration curves, and what they reveal about each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</a:rPr>
              <a:t>Math4AI Capstone  |  National AI Center  | 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426464"/>
            <a:ext cx="7498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5FA8"/>
                </a:solidFill>
              </a:rPr>
              <a:t>5-bin Confidence vs Accuracy (Reliability Diagrams)</a:t>
            </a:r>
          </a:p>
        </p:txBody>
      </p:sp>
      <p:pic>
        <p:nvPicPr>
          <p:cNvPr id="9" name="Picture 8" descr="reliability_softma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10512"/>
            <a:ext cx="3566160" cy="2468880"/>
          </a:xfrm>
          <a:prstGeom prst="rect">
            <a:avLst/>
          </a:prstGeom>
        </p:spPr>
      </p:pic>
      <p:pic>
        <p:nvPicPr>
          <p:cNvPr id="10" name="Picture 9" descr="reliability_n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39" y="1810512"/>
            <a:ext cx="3566160" cy="24688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20040" y="429768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2E"/>
                </a:solidFill>
              </a:rPr>
              <a:t>Softmax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77639" y="429768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2E"/>
                </a:solidFill>
              </a:rPr>
              <a:t>NN (H=32)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1426464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5FA8"/>
                </a:solidFill>
              </a:rPr>
              <a:t>Entropy by Correctness</a:t>
            </a:r>
          </a:p>
        </p:txBody>
      </p:sp>
      <p:pic>
        <p:nvPicPr>
          <p:cNvPr id="14" name="Picture 13" descr="entropy_comparis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6679" y="1810512"/>
            <a:ext cx="4297680" cy="246888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320040" y="4663440"/>
            <a:ext cx="11548872" cy="1691640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4727448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5FA8"/>
                </a:solidFill>
              </a:rPr>
              <a:t>Measured Entropy Values (Digits Test Set, n=368)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5138928"/>
            <a:ext cx="2651760" cy="1097280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516636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Softmax
Correct (n=346)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742432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Entropy = 0.481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46120" y="5138928"/>
            <a:ext cx="2651760" cy="109728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37560" y="516636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Softmax
Incorrect (n=22)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37560" y="5742432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Entropy = 1.339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80760" y="5138928"/>
            <a:ext cx="2651760" cy="10972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72200" y="516636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NN
Correct (n=345)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72200" y="5742432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Entropy = 0.190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15400" y="5138928"/>
            <a:ext cx="2651760" cy="10972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06840" y="516636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NN
Incorrect (n=23)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06840" y="5742432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Entropy = 0.979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635508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1A1A2E"/>
                </a:solidFill>
              </a:rPr>
              <a:t>NN is sharper: correct predictions have entropy 0.190 (vs 0.481 for softmax). Both models flag incorrect predictions with higher entropy — useful uncertainty signal.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Key Numbers 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315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5A623"/>
                </a:solidFill>
              </a:rPr>
              <a:t>All critical results in one place before conclusions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</a:rPr>
              <a:t>Math4AI Capstone  |  National AI Center  | 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26464"/>
            <a:ext cx="2834640" cy="45720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426464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Gaussian Task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883664"/>
            <a:ext cx="2834640" cy="4434840"/>
          </a:xfrm>
          <a:prstGeom prst="rect">
            <a:avLst/>
          </a:prstGeom>
          <a:solidFill>
            <a:srgbClr val="EE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79" y="1993392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Softmax acc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1993392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0A1F44"/>
                </a:solidFill>
              </a:rPr>
              <a:t>95.0%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79" y="2843784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NN acc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57400" y="2843784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0A1F44"/>
                </a:solidFill>
              </a:rPr>
              <a:t>95.0%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79" y="3694176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Softmax 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57400" y="3694176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0A1F44"/>
                </a:solidFill>
              </a:rPr>
              <a:t>0.1539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79" y="4544568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NN 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57400" y="4544568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0A1F44"/>
                </a:solidFill>
              </a:rPr>
              <a:t>0.1555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79" y="5394960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Verdict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5394960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0A1F44"/>
                </a:solidFill>
              </a:rPr>
              <a:t>Linear = sufficient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82696" y="1426464"/>
            <a:ext cx="2834640" cy="457200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82696" y="1426464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Moons Task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82696" y="1883664"/>
            <a:ext cx="2834640" cy="4434840"/>
          </a:xfrm>
          <a:prstGeom prst="rect">
            <a:avLst/>
          </a:prstGeom>
          <a:solidFill>
            <a:srgbClr val="EE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74136" y="1993392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Softmax acc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0056" y="1993392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1A5FA8"/>
                </a:solidFill>
              </a:rPr>
              <a:t>85.0%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74136" y="2843784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NN acc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0056" y="2843784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1A5FA8"/>
                </a:solidFill>
              </a:rPr>
              <a:t>85.0%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74136" y="3694176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Softmax 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0056" y="3694176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1A5FA8"/>
                </a:solidFill>
              </a:rPr>
              <a:t>0.2852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74136" y="4544568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NN 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0056" y="4544568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1A5FA8"/>
                </a:solidFill>
              </a:rPr>
              <a:t>0.2695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74136" y="5394960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Verdict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0056" y="5394960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1A5FA8"/>
                </a:solidFill>
              </a:rPr>
              <a:t>NN: better CE, curved boundary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45352" y="1426464"/>
            <a:ext cx="2834640" cy="457200"/>
          </a:xfrm>
          <a:prstGeom prst="rect">
            <a:avLst/>
          </a:prstGeom>
          <a:solidFill>
            <a:srgbClr val="6C3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45352" y="1426464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Digits (5-seed)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45352" y="1883664"/>
            <a:ext cx="2834640" cy="4434840"/>
          </a:xfrm>
          <a:prstGeom prst="rect">
            <a:avLst/>
          </a:prstGeom>
          <a:solidFill>
            <a:srgbClr val="EE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36792" y="1993392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Softmax acc CI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82712" y="1993392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6C358A"/>
                </a:solidFill>
              </a:rPr>
              <a:t>[93.67%, 94.04%]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36792" y="2843784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NN acc CI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82712" y="2843784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6C358A"/>
                </a:solidFill>
              </a:rPr>
              <a:t>[93.47%, 94.47%]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36792" y="3694176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Softmax CE CI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82712" y="3694176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6C358A"/>
                </a:solidFill>
              </a:rPr>
              <a:t>[0.2689, 0.2697]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36792" y="4544568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NN CE CI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982712" y="4544568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6C358A"/>
                </a:solidFill>
              </a:rPr>
              <a:t>[0.1831, 0.2036]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36792" y="5394960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CE CIs overlap?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982712" y="5394960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6C358A"/>
                </a:solidFill>
              </a:rPr>
              <a:t>NO → significant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208008" y="1426464"/>
            <a:ext cx="2834640" cy="457200"/>
          </a:xfrm>
          <a:prstGeom prst="rect">
            <a:avLst/>
          </a:prstGeom>
          <a:solidFill>
            <a:srgbClr val="167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208008" y="1426464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Track B Entropy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208008" y="1883664"/>
            <a:ext cx="2834640" cy="4434840"/>
          </a:xfrm>
          <a:prstGeom prst="rect">
            <a:avLst/>
          </a:prstGeom>
          <a:solidFill>
            <a:srgbClr val="EE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299448" y="1993392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Softmax correct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945368" y="1993392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16736B"/>
                </a:solidFill>
              </a:rPr>
              <a:t>H = 0.481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299448" y="2843784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Softmax wrong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945368" y="2843784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16736B"/>
                </a:solidFill>
              </a:rPr>
              <a:t>H = 1.339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299448" y="3694176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NN correct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945368" y="3694176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16736B"/>
                </a:solidFill>
              </a:rPr>
              <a:t>H = 0.190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299448" y="4544568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NN wrong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945368" y="4544568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16736B"/>
                </a:solidFill>
              </a:rPr>
              <a:t>H = 0.979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299448" y="5394960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NN sharper?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945368" y="5394960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16736B"/>
                </a:solidFill>
              </a:rPr>
              <a:t>Yes — 60% lower H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Discussion: All Five Required Interpretive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315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5A623"/>
                </a:solidFill>
              </a:rPr>
              <a:t>Answered from our evidence — not from the handout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</a:rPr>
              <a:t>Math4AI Capstone  |  National AI Center  | 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26464"/>
            <a:ext cx="11548872" cy="329184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53896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Q1: When is the linear model geometrically sufficient?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773936"/>
            <a:ext cx="1124712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Gaussian task: 95% acc, identical to NN. When log-posterior ratio is linear in x, softmax regression is Bayes-optimal — no hidden layer needed.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414016"/>
            <a:ext cx="11548872" cy="329184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441448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Q2: What representational change does the hidden layer provide?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761488"/>
            <a:ext cx="1124712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Moons: curved boundaries impossible for any hyperplane. Digits: 28% lower CE — hidden layer reshapes feature space so classes become more separable.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401568"/>
            <a:ext cx="11548872" cy="329184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4290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Q3: When does additional complexity fail to justify itself?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749040"/>
            <a:ext cx="1124712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Gaussian: NN = softmax exactly. Width-2 on moons: under-capacity failure. Complexity must be justified by evidence, not assumed.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4389120"/>
            <a:ext cx="11548872" cy="329184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416552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Q4: What does the failure case teach?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736592"/>
            <a:ext cx="1124712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Width-2 is a geometric failure — 2 neurons span too small a feature manifold. Not an optimizer problem. Fix: more neurons, not more epochs.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5376672"/>
            <a:ext cx="11548872" cy="329184"/>
          </a:xfrm>
          <a:prstGeom prst="rect">
            <a:avLst/>
          </a:prstGeom>
          <a:solidFill>
            <a:srgbClr val="1A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5404104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Q5: What do repeated-seed statistics add beyond a single run?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724144"/>
            <a:ext cx="1124712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A single run may be lucky or unlucky. 5 seeds reveal that: accuracy CIs overlap (no real gap) but CE CIs do NOT overlap — only repeated seeds expose this distinction reliably.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Limitations &amp; Honest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315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5A623"/>
                </a:solidFill>
              </a:rPr>
              <a:t>What this study does NOT show — and why that matters scientifically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</a:rPr>
              <a:t>Math4AI Capstone  |  National AI Center  | 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44752"/>
            <a:ext cx="5669280" cy="1508760"/>
          </a:xfrm>
          <a:prstGeom prst="rect">
            <a:avLst/>
          </a:prstGeom>
          <a:solidFill>
            <a:srgbClr val="EE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44752"/>
            <a:ext cx="5669280" cy="347472"/>
          </a:xfrm>
          <a:prstGeom prst="rect">
            <a:avLst/>
          </a:prstGeom>
          <a:solidFill>
            <a:srgbClr val="CCD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49047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1F44"/>
                </a:solidFill>
              </a:rPr>
              <a:t>Dataset scale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847088"/>
            <a:ext cx="5486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Small synthetic datasets + 1,797-sample digits. Results may not generalize to large-scale real-world tasks.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59" y="1444752"/>
            <a:ext cx="5669280" cy="1508760"/>
          </a:xfrm>
          <a:prstGeom prst="rect">
            <a:avLst/>
          </a:prstGeom>
          <a:solidFill>
            <a:srgbClr val="EE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59" y="1444752"/>
            <a:ext cx="5669280" cy="347472"/>
          </a:xfrm>
          <a:prstGeom prst="rect">
            <a:avLst/>
          </a:prstGeom>
          <a:solidFill>
            <a:srgbClr val="CCD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149047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1F44"/>
                </a:solidFill>
              </a:rPr>
              <a:t>Architecture depth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1847088"/>
            <a:ext cx="5486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Only a single hidden layer studied. Two or more layers can learn qualitatively different representations — not covered here.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3108960"/>
            <a:ext cx="5669280" cy="1508760"/>
          </a:xfrm>
          <a:prstGeom prst="rect">
            <a:avLst/>
          </a:prstGeom>
          <a:solidFill>
            <a:srgbClr val="EE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3108960"/>
            <a:ext cx="5669280" cy="347472"/>
          </a:xfrm>
          <a:prstGeom prst="rect">
            <a:avLst/>
          </a:prstGeom>
          <a:solidFill>
            <a:srgbClr val="CCD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" y="31546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1F44"/>
                </a:solidFill>
              </a:rPr>
              <a:t>Activation family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" y="3511296"/>
            <a:ext cx="5486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Only tanh used. ReLU-family activations behave differently (sparse, non-smooth) and dominate modern practice.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59" y="3108960"/>
            <a:ext cx="5669280" cy="1508760"/>
          </a:xfrm>
          <a:prstGeom prst="rect">
            <a:avLst/>
          </a:prstGeom>
          <a:solidFill>
            <a:srgbClr val="EE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9359" y="3108960"/>
            <a:ext cx="5669280" cy="347472"/>
          </a:xfrm>
          <a:prstGeom prst="rect">
            <a:avLst/>
          </a:prstGeom>
          <a:solidFill>
            <a:srgbClr val="CCD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19088" y="31546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1F44"/>
                </a:solidFill>
              </a:rPr>
              <a:t>Calibration analysis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9088" y="3511296"/>
            <a:ext cx="5486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5-bin reliability with 368 test samples is too coarse for strong calibration claims. Modern ECE analysis needs larger populations.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4773168"/>
            <a:ext cx="5669280" cy="1508760"/>
          </a:xfrm>
          <a:prstGeom prst="rect">
            <a:avLst/>
          </a:prstGeom>
          <a:solidFill>
            <a:srgbClr val="EE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4773168"/>
            <a:ext cx="5669280" cy="347472"/>
          </a:xfrm>
          <a:prstGeom prst="rect">
            <a:avLst/>
          </a:prstGeom>
          <a:solidFill>
            <a:srgbClr val="CCD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9768" y="481888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1F44"/>
                </a:solidFill>
              </a:rPr>
              <a:t>Hyperparameter scope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" y="5175504"/>
            <a:ext cx="5486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Default hyperparameters are fixed by protocol. Relative optimizer performance may shift under different learning rate schedules.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59" y="4773168"/>
            <a:ext cx="5669280" cy="1508760"/>
          </a:xfrm>
          <a:prstGeom prst="rect">
            <a:avLst/>
          </a:prstGeom>
          <a:solidFill>
            <a:srgbClr val="EE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09359" y="4773168"/>
            <a:ext cx="5669280" cy="347472"/>
          </a:xfrm>
          <a:prstGeom prst="rect">
            <a:avLst/>
          </a:prstGeom>
          <a:solidFill>
            <a:srgbClr val="CCD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19088" y="481888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1F44"/>
                </a:solidFill>
              </a:rPr>
              <a:t>Statistical power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19088" y="5175504"/>
            <a:ext cx="5486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5 seeds provides rough variability. Statistically rigorous comparison would require bootstrapping or many more seeds.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6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NATIONAL AI CENTER  —  AI ACADEMY  |  MATH4AI 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Key Takeaways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53312"/>
            <a:ext cx="502920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508760"/>
            <a:ext cx="73152" cy="5029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50876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5A623"/>
                </a:solidFill>
              </a:rPr>
              <a:t>Linear model is sufficient  </a:t>
            </a:r>
            <a:r>
              <a:rPr sz="1800">
                <a:solidFill>
                  <a:srgbClr val="CCDDFF"/>
                </a:solidFill>
              </a:rPr>
              <a:t>when class geometry is linearly separable (Gaussian task, 95% acc).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304288"/>
            <a:ext cx="73152" cy="5029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304288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5A623"/>
                </a:solidFill>
              </a:rPr>
              <a:t>Hidden layer earns its complexity  </a:t>
            </a:r>
            <a:r>
              <a:rPr sz="1800">
                <a:solidFill>
                  <a:srgbClr val="CCDDFF"/>
                </a:solidFill>
              </a:rPr>
              <a:t>on moons (curved boundaries) and digits (28% CE reduction).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099815"/>
            <a:ext cx="73152" cy="5029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099815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5A623"/>
                </a:solidFill>
              </a:rPr>
              <a:t>CE reveals more than accuracy  </a:t>
            </a:r>
            <a:r>
              <a:rPr sz="1800">
                <a:solidFill>
                  <a:srgbClr val="CCDDFF"/>
                </a:solidFill>
              </a:rPr>
              <a:t>— identical accuracy masks a real and statistically significant gap.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895344"/>
            <a:ext cx="73152" cy="5029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895344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5A623"/>
                </a:solidFill>
              </a:rPr>
              <a:t>CI non-overlap is the key test  </a:t>
            </a:r>
            <a:r>
              <a:rPr sz="1800">
                <a:solidFill>
                  <a:srgbClr val="CCDDFF"/>
                </a:solidFill>
              </a:rPr>
              <a:t>— CE CIs do not overlap; accuracy CIs do. CE wins the argument.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690872"/>
            <a:ext cx="73152" cy="5029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690872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5A623"/>
                </a:solidFill>
              </a:rPr>
              <a:t>Capacity must match geometry  </a:t>
            </a:r>
            <a:r>
              <a:rPr sz="1800">
                <a:solidFill>
                  <a:srgbClr val="CCDDFF"/>
                </a:solidFill>
              </a:rPr>
              <a:t>— width-2 failure is geometric, not an optimizer issue.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486400"/>
            <a:ext cx="73152" cy="5029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548640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5A623"/>
                </a:solidFill>
              </a:rPr>
              <a:t>5 seeds are essential  </a:t>
            </a:r>
            <a:r>
              <a:rPr sz="1800">
                <a:solidFill>
                  <a:srgbClr val="CCDDFF"/>
                </a:solidFill>
              </a:rPr>
              <a:t>— single runs may be lucky or unlucky; CIs quantify reliability.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9224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8899BB"/>
                </a:solidFill>
              </a:rPr>
              <a:t>Thank you  ·  Questions welcome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