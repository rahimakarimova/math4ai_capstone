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From Linear Scores to a Single Hidden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A623"/>
                </a:solidFill>
              </a:rPr>
              <a:t>A Mathematical Study of Simple Learning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4572000" cy="45720"/>
          </a:xfrm>
          <a:prstGeom prst="rect">
            <a:avLst/>
          </a:prstGeom>
          <a:solidFill>
            <a:srgbClr val="44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Central Question:  When does a hidden layer genuinely improve on a linear decision rule?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216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Models:  Softmax Regression   vs.   One-Hidden-Layer Neural Network (tanh)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9709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Datasets:  Linear Gaussian  ·  Moons  ·  Digits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72583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Implementation:  Pure NumPy  (no PyTorch / TensorFlow)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Presented by: Rahima Karimova  &amp; 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721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Central Question &amp; Project Framing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768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Mathematical Foundations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815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Model Architectures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Backpropagation Derivation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Datasets &amp; Experimental Setup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Core Results: Gaussian · Moons · Digits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4721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Ablation Study &amp; Optimizer Comparison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2768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Failure Case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0815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Repeated-Seed Statistics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862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Advanced Track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6908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Discussion, Limitations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Central Question &amp; Project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What this capstone asks —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4552" cy="12801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"When does a one-hidden-layer nonlinear classifier genuinely improve
on a linear decision rule, and when is additional model complexity unnecessary?"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2E"/>
                </a:solidFill>
              </a:rPr>
              <a:t>•  More complex models are NOT automatically better — complexity must be earned through evidence.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We compare two model classes on geometric grounds, not just raw accuracy.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Mathematics bridges: Linear Algebra · Calculus · Probability → Supervised Learning.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Fair comparison: same data split, same preprocessing, validation-based model selection.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Implemented from scratch in NumPy — every equation is our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Mathematical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Connecting Math4AI coursework to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Linear Algebra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49039" cy="4297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Affine score functions:  s = Wx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Vectorized batch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Hidden representations as matrix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Optional: PCA / SVD for input geometry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Calculus &amp;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874519"/>
            <a:ext cx="3749039" cy="4297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011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Gradients and the chain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17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Backpropagation as chain-rule bookkeeping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Loss minimization via gradient descent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SGD · Momentum · Adam optimizers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Probability &amp; Statistics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874519"/>
            <a:ext cx="3749039" cy="429768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011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Softmax = categorical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017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Cross-entropy = negative log-likelihood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MLE interpretation of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029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Repeated-seed confidence intervals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1: Softmax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Linear baseline — the decision boundary is affine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Score (logit) function: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s(x) = W x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Softmax probabilities: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44"/>
                </a:solidFill>
              </a:rPr>
              <a:t>p_j(x) = exp(s_j) / Σ exp(s_ℓ)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Cross-entropy loss = Negative Log-Likelihood: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L(x, y) = − log p_y(x)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Decision boundary between class j and ℓ:
   s_j(x) = s_ℓ(x)  →  hyperplane in input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W ∈ ℝ^{k×d}, b ∈ ℝ^k  —  all class boundaries are linear.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Minimizing cross-entropy = maximizing log-likelihood (MLE).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Sufficient when classes are linearly separable or near-linearly separable.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Gaussian blobs: linear boundary is geometrically correct.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Optimizer: mini-batch SGD, lr = 0.05, λ = 10⁻⁴ L2 regularization.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One-Hidden-Layer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Nonlinear decision boundaries via learned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Forward pass: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Z₁ = X W₁ᵀ + 1 b₁ᵀ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H  = tanh(Z₁)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S  = H W₂ᵀ + 1 b₂ᵀ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P  = softmax_row(S)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Why tanh?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Smooth · zero-centered · clean derivative:
d/dz tanh(z) = 1 − tanh²(z)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W₁ ∈ ℝ^{H×d},  W₂ ∈ ℝ^{k×H}  (default H = 32).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Hidden layer = learned nonlinear feature map.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Decision boundaries can curve to fit non-convex regions.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tanh chosen for pedagogical clarity over ReLU.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Same softmax output layer and cross-entropy loss as baseline.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  •  L2 regularization λ = 10⁻⁴ on all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Backpropagation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Chain rule applied layer by layer in vectorized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Conceptual view:  In the forward pass compute Z₁ → H → S → P → L.  In the backward pass propagate ∂L/∂(·) in reverse.  Each local derivative is simple; the chain rule assembles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5669280" cy="1188720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Output sensitivity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∂L/∂S  =  (1/n)(P − 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11880"/>
            <a:ext cx="5669280" cy="1188720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Output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∂L/∂W₂ = (∂L/∂S)ᵀ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5669280" cy="1188720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Output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∂L/∂b₂ = (∂L/∂S)ᵀ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240280"/>
            <a:ext cx="5669280" cy="1188720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042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Hidden pre-activation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∂L/∂Z₁ = (∂L/∂S) W₂ ⊙ (1 − H⊙H)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11880"/>
            <a:ext cx="5669280" cy="1188720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758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Hidden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∂L/∂W₁ = (∂L/∂Z₁)ᵀ 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983480"/>
            <a:ext cx="5669280" cy="1188720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0474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Hidden bias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949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∂L/∂b₁ = (∂L/∂Z₁)ᵀ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77"/>
                </a:solidFill>
              </a:rPr>
              <a:t>⊙ = element-wise product.  (1 − H⊙H) is the tanh derivative applied element-wise.  These are matrix forms of the same scalar chain rule from calculus.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Datasets &amp;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Three tasks designed for geometric clarity and rigorous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Linear Gaussian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3749039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Two Gaussian blobs with mild class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Linear boundary is geometrically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Designed to test when simple model is sufficient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417320"/>
            <a:ext cx="3749039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41732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Moons (Nonlinear)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92807"/>
            <a:ext cx="3749039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Two interleaved crescent-shaped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No linear boundary can separate the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Tests representational power of hidden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17320"/>
            <a:ext cx="3749039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41732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Digits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892807"/>
            <a:ext cx="3749039" cy="21031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sklearn digits: 1,797 images, 10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64-dim flattened pixel vectors (pre-scaled [0,1])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Fixed train / val / test split — all teams identical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60520"/>
            <a:ext cx="11548872" cy="210312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Experimental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</a:rPr>
              <a:t>•  Same train/val/test split and preprocessing for both models.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Model selection: use validation cross-entropy only (never test set).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Epoch budget: 200 epochs, best-val-checkpoint for digits.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Repeated seeds: 5 seeds on digits benchmark → means + 95%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1: Linear Gaussian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When a linear boundary is already 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gaussia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17320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NN (w=32)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7249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438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Softmax CE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4381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51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NN CE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41513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892040"/>
            <a:ext cx="4206240" cy="1234440"/>
          </a:xfrm>
          <a:prstGeom prst="rect">
            <a:avLst/>
          </a:prstGeom>
          <a:solidFill>
            <a:srgbClr val="E0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956048"/>
            <a:ext cx="39776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Conclusion: Both models achieve identical accuracy. The linear boundary perfectly separates the Gaussian blobs. Additional complexity is unnecessary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2: Moons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Where a hidden layer changes the geometry of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17320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NN (w=32)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7249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4381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Softmax CE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4381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0.2852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51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NN CE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41513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A1F44"/>
                </a:solidFill>
              </a:rPr>
              <a:t>0.2695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892040"/>
            <a:ext cx="4206240" cy="123444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956048"/>
            <a:ext cx="39776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achieves lower cross-entropy loss. The hidden layer learns a curved decision boundary that better captures the crescent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3: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Ten-class classification with repeated-seed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trai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17320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Single-Run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9659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19659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496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49631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A1F44"/>
                </a:solidFill>
              </a:rPr>
              <a:t>94.02%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24963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A1F44"/>
                </a:solidFill>
              </a:rPr>
              <a:t>0.270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026663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302666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A1F44"/>
                </a:solidFill>
              </a:rPr>
              <a:t>94.02%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3026663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A1F44"/>
                </a:solidFill>
              </a:rPr>
              <a:t>0.193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429000"/>
            <a:ext cx="42062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5204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5-Seed Statistics (95% CI)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97763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977639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93.86 ± 0.185%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52627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4526279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0.2693 ± 0.0004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0749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5074920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93.97 ± 0.500%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623559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5623559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0.1933 ± 0.0103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6035040"/>
            <a:ext cx="4206240" cy="548640"/>
          </a:xfrm>
          <a:prstGeom prst="rect">
            <a:avLst/>
          </a:prstGeom>
          <a:solidFill>
            <a:srgbClr val="E0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6062472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clearly reduces cross-entropy; accuracy gains are within statistical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Ablation Study: Capacity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Hidden widths {2, 8, 32} — what changes in the learned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apacit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82296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86800" y="1417320"/>
            <a:ext cx="32004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508760"/>
            <a:ext cx="32004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470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2 hidden neurons. Barely curves the boundary. Under-capacity; cannot separate crescents.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017520"/>
            <a:ext cx="320040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5584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Begins to approximate the crescent shape. Reasonable fit with lower CE loss.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526279"/>
            <a:ext cx="320040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526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864607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setting. Full separation achieved. Decision boundary matches the nonlinear structure.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6035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Key insight: Width 2 is a failure case — insufficient capacity for this task geometry.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Optimizer Study: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SGD vs Momentum vs Adam — fixed conditions, hidden width 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optimiz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417320"/>
            <a:ext cx="36576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Optimizer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SGD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591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lr=0.05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3347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Converges but slowly. Loss decreases steadily throughout 200 epochs.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29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764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lr=0.05, β=0.9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50791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Faster early convergence. Uses accumulated gradient directions.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846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Adam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1937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lr=0.001, β₁=0.9, β₂=0.999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4681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Best final CE loss. Adaptive learning rates accelerate training.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989320"/>
            <a:ext cx="3657600" cy="594360"/>
          </a:xfrm>
          <a:prstGeom prst="rect">
            <a:avLst/>
          </a:prstGeom>
          <a:solidFill>
            <a:srgbClr val="E0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6035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Adam converges fastest; all reach similar accuracy within 200 epochs.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Case Analysis: Under-Capacity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Width = 2 on moons — mechanism, not just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failure_case_width2_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68580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417320"/>
            <a:ext cx="45720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5087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Why it fails — mechanistic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5740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Only 2 neurons → only 2 learned feature directions in the hidden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80720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The tanh activations span a low-dimensional manifold — cannot represent the crescent curvature.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557015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The output layer sees only 2 numbers per input; insufficient to discriminate the two crescents.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30682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Result: the decision boundary remains near-linear, unable to wrap around the moon shapes.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056631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This is a capacity failure — not an optimizer issue, not a data issue.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5989320"/>
            <a:ext cx="4572000" cy="59436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6035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Lesson: model capacity must match the geometric complexity of the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Repeated-Seed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5 seeds, 95% confidence intervals — what variability tells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F44"/>
                </a:solidFill>
              </a:rPr>
              <a:t>Formula:  x̄ ± 2.776 · s/√5   (t-distribution, 4 df, 95% CI)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164592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011680"/>
            <a:ext cx="155448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011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2011680"/>
            <a:ext cx="137160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011680"/>
            <a:ext cx="128016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011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11680"/>
            <a:ext cx="146304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011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 Half-Width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011680"/>
            <a:ext cx="128016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011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 Lower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011680"/>
            <a:ext cx="1280160" cy="411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011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CI Upper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23160"/>
            <a:ext cx="164592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414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2423160"/>
            <a:ext cx="155448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2441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2423160"/>
            <a:ext cx="137160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39" y="24414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93.86%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2423160"/>
            <a:ext cx="128016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24414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423160"/>
            <a:ext cx="146304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4414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±0.185%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2423160"/>
            <a:ext cx="128016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4414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2423160"/>
            <a:ext cx="128016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24414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953512"/>
            <a:ext cx="16459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971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2953512"/>
            <a:ext cx="1554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39" y="2953512"/>
            <a:ext cx="13716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39" y="2971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2953512"/>
            <a:ext cx="1280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2971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0.000351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953512"/>
            <a:ext cx="14630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971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±0.000436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2953512"/>
            <a:ext cx="1280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2971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0.26887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15400" y="2953512"/>
            <a:ext cx="1280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15400" y="2971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483863"/>
            <a:ext cx="164592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5021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65960" y="3483863"/>
            <a:ext cx="155448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5960" y="35021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39" y="3483863"/>
            <a:ext cx="137160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39" y="35021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93.97%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92040" y="3483863"/>
            <a:ext cx="128016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35021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0.403%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3483863"/>
            <a:ext cx="146304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35021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±0.500%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35240" y="3483863"/>
            <a:ext cx="128016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5240" y="35021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93.47%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15400" y="3483863"/>
            <a:ext cx="1280160" cy="51206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15400" y="35021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94.47%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014215"/>
            <a:ext cx="16459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0325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65960" y="4014215"/>
            <a:ext cx="1554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65960" y="40325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20439" y="4014215"/>
            <a:ext cx="13716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20439" y="40325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0.19334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92040" y="4014215"/>
            <a:ext cx="1280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92040" y="403250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0.008268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4014215"/>
            <a:ext cx="146304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72200" y="403250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±0.01026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35240" y="4014215"/>
            <a:ext cx="1280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35240" y="403250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0.18307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15400" y="4014215"/>
            <a:ext cx="12801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15400" y="403250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0.20360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572000"/>
            <a:ext cx="11548872" cy="173736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645152"/>
            <a:ext cx="11247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5FA8"/>
                </a:solidFill>
              </a:rPr>
              <a:t>Interpretation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  •  NN reduces cross-entropy by ~0.076 (28% reduction) — statistically meaningful given narrow CIs.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  •  Accuracy difference (~0.11%) is within noise — accuracy alone does not distinguish the models.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  •  5 seeds expose optimizer sensitivity: NN accuracy std (0.40%) &gt; Softmax (0.15%).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  •  Repeated-seed stats prevent false conclusions from a single lucky or unlucky initialization.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Advanced Track (Track B): Prediction Confidence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Softmax probabilities as confidence estimates — how well are they calibrated?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F44"/>
                </a:solidFill>
              </a:rPr>
              <a:t>Confidence = max predicted class probability.   Predictive entropy = −Σ p_j log p_j   (lower = more certain).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3749039" cy="4389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Confidence vs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3749039" cy="3749039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63347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5-bin calibration table for both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0215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Ideal: high confidence ↔ high accuracy.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70831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Softmax tends to be overconfident.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23951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NN shows slightly better calibration.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057400"/>
            <a:ext cx="3749039" cy="4389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20574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Correct vs Incorrect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2496312"/>
            <a:ext cx="3749039" cy="3749039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263347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Correct predictions → higher max probability.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50215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Incorrect predictions → lower, flatter distribution.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370831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Entropy higher for misclassified samples.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523951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NN slightly more confident on correct predictions.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2057400"/>
            <a:ext cx="3749039" cy="43891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205740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Connection to Main 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496312"/>
            <a:ext cx="3749039" cy="3749039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63347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Both models produce calibrated probabilities.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350215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NN's lower CE loss reflects better probability estimates.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4370831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Confidence analysis confirms: NN gains come from sharper probabilities, not just accuracy.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5239512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Limitation: 5-bin analysis with 360 test samples is coarse.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Discussion: Answering the Central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Evidence-based conclusions from all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96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When is linear sufficient?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Gaussian blobs: linear boundary achieves 95% accuracy — identical to NN. Linear classifiers are sufficient when class conditionals are well-separated by hyperplanes.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97480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3405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does the hidden layer add?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On moons: curved boundaries matching crescent geometry. On digits: 28% lower cross-entropy, sharper class probabilities. Hidden layer = learned nonlinear feature map.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31920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6849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When does complexity fail to justify itself?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159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Width-2 NN on moons fails because 2 neurons cannot span the required feature space. On Gaussian data: no improvement from complexity.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66360"/>
            <a:ext cx="11548872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029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does the failure case teach?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5040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Capacity failure is geometric: insufficient neurons → insufficient representational space. Not an optimizer issue. The fix is more capacity, not more training.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</a:rPr>
              <a:t>What this study does not show — and why that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4996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Dataset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6537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Results are based on small synthetic datasets and a 1,797-sample digits benchmark. Conclusions may not generalize to large, real-world datasets.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6304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6304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4996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Architecture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186537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a single hidden layer is studied. Two or more hidden layers can learn qualitatively different representations — those are not covered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1455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Activation choices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tanh is used. ReLU-family activations behave differently (non-smooth, sparse activations) and are the standard in modern practice.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31455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Calibration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The 5-bin confidence analysis uses only 360 test samples — too coarse for strong calibration claims. Modern ECE analysis requires larger sample sizes.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5488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5488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4791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Hyperparameter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515721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hyperparameters are fixed by protocol. The relative performance of optimizers may change under different learning rate schedules.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5488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5488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4791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Statistical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515721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 random seeds provide rough variability estimates. Statistically rigorous comparisons would require larger seed 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Linear model is sufficient  </a:t>
            </a:r>
            <a:r>
              <a:rPr sz="1800">
                <a:solidFill>
                  <a:srgbClr val="CCDDFF"/>
                </a:solidFill>
              </a:rPr>
              <a:t>when class geometry is linearly separable (Gaussian task).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68296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68296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Hidden layer earns complexity  </a:t>
            </a:r>
            <a:r>
              <a:rPr sz="1800">
                <a:solidFill>
                  <a:srgbClr val="CCDDFF"/>
                </a:solidFill>
              </a:rPr>
              <a:t>by capturing curved boundaries (moons) and sharper probabilities (digits).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63824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6382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Cross-entropy reveals more  </a:t>
            </a:r>
            <a:r>
              <a:rPr sz="1800">
                <a:solidFill>
                  <a:srgbClr val="CCDDFF"/>
                </a:solidFill>
              </a:rPr>
              <a:t>than accuracy alone — NN's 28% CE reduction is meaningful.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59352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5935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Capacity must match geometry  </a:t>
            </a:r>
            <a:r>
              <a:rPr sz="1800">
                <a:solidFill>
                  <a:srgbClr val="CCDDFF"/>
                </a:solidFill>
              </a:rPr>
              <a:t>— Width-2 failure is a geometric, not an optimizer,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Repeated seeds are essential  </a:t>
            </a:r>
            <a:r>
              <a:rPr sz="1800">
                <a:solidFill>
                  <a:srgbClr val="CCDDFF"/>
                </a:solidFill>
              </a:rPr>
              <a:t>— single runs may mislead; variability quantifies reliability.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50407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50407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Mathematics drives understanding  </a:t>
            </a:r>
            <a:r>
              <a:rPr sz="1800">
                <a:solidFill>
                  <a:srgbClr val="CCDDFF"/>
                </a:solidFill>
              </a:rPr>
              <a:t>— every result follows from chain rule, softmax, and geometry.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