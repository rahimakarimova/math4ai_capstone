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1446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74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0" y="3200400"/>
            <a:ext cx="4572000" cy="45720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AI CENTER  —  AI ACADEMY  |  MATH4AI CAPSTONE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Linear Scores to a Single Hidden Layer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029968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14B8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Mathematical Study of Simple Learning Systems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6217920" cy="548640"/>
          </a:xfrm>
          <a:prstGeom prst="rect">
            <a:avLst/>
          </a:prstGeom>
          <a:solidFill>
            <a:srgbClr val="0E7490">
              <a:alpha val="60000"/>
            </a:srgbClr>
          </a:solidFill>
          <a:ln w="12700">
            <a:solidFill>
              <a:srgbClr val="14B8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Question: When does a hidden layer genuinely improve on a linear decision rule?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Regression vs. One-Hidden-Layer Neural Network (tanh)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393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Gaussian  ·  Moons  ·  Digits (10-class benchmark)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9867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NumPy — no PyTorch, TensorFlow, or autograd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09160"/>
            <a:ext cx="9144000" cy="4389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Team  |  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 + 5 min Q&amp;A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527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Question &amp; Framing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64792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764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 Reference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295144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31343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295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25496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843784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8254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Architectures + NLL Derivation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55848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3374136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3355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Derivation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86200"/>
            <a:ext cx="320040" cy="32004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90448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Sanity Checks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54880" y="1234440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54880" y="1252728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1663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&amp; Experimental Protocol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754880" y="1764792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54880" y="1783080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66360" y="1764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Results: Gaussian · Moons · Digits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54880" y="2295144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54880" y="2313432"/>
            <a:ext cx="320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66360" y="22951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 &amp; Optimizer Comparison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54880" y="2825496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2843784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166360" y="28254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Training Curves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754880" y="3355848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09160" y="3367806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166360" y="3355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 Analysis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3886200"/>
            <a:ext cx="320040" cy="32004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709160" y="389815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6636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Repeated-Seed Statistics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   Track B · Key Numbers · 5 Interpretive Qs · Limits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 Question &amp; Project Framing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capstone asks — and why it matters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0D4F61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"When does a one-hidden-layer nonlinear classifier genuinely improve on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linear decision rule, and when is additional model complexity unnecessary?"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73152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models are NOT automatically better — complexity must earn its way through evidence.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73152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is fair: same data split, same preprocessing, validation-only model selection.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73152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1546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Math4AI to ML: Linear Algebra · Calculus (chain rule) · Probability (MLE).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73152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implemented from scratch in NumPy — every equation written by the team.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60520"/>
            <a:ext cx="73152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result: knowing when the simple model is sufficient is as important as improving it.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9164"/>
            <a:ext cx="8261253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1: Softmax Regression + NLL Derivation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§6.1: why cross-entropy = negative log-likelihood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297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297680" cy="36576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 ∈ ℝᵏˣᵈ, b ∈ ℝᵏ — all class boundaries are linear.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93852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boundary sⱼ = sₗ → hyperplane in input space.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32257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CE is not arbitrary: it IS the MLE objective.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7066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Gaussian blobs: linear boundary is geometrically correct.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09067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Training: mini-batch SGD, lr=0.05, λ=10⁻⁴ L2, 200 epochs.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474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selection: best val cross-entropy checkpoint.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931920" cy="68580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probability: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42062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s(x) = Wx + b      pⱼ(x) = exp(sⱼ) / Σ exp(sₗ)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402336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NLL derivation  (§6.1 required)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1600200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1618488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212080" y="157276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P(Y=y | x) = p_y(x)   [categorical distribution]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075688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093976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212080" y="2048256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of one example:  ℒ = p_y(x)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2551176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2569464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212080" y="2523744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Log-likelihood:  log ℒ = log p_y(x)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3026664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044952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212080" y="2999232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Negate to get loss:  L = −log p_y(x)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92040" y="3502152"/>
            <a:ext cx="256032" cy="256032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520440"/>
            <a:ext cx="2560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12080" y="3474720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over n examples:  L̄ = −(1/n) Σᵢ log p_{yᵢ}(xᵢ)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023360"/>
            <a:ext cx="3840480" cy="59436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937760" y="41148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 Minimizing CE ≡ maximizing log-likelihood (MLE)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2: One-Hidden-Layer Neural Network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Nonlinear decision boundaries via learned feature representations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29768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4297680" cy="36576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W₁ ∈ ℝᴴˣᵈ,  W₂ ∈ ℝᵏˣᴴ   (default hidden width H = 32).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88366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Hidden layer = learned nonlinear feature map.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21284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boundaries can curve to fit non-convex regions.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54203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tanh chosen for pedagogical clarity — smooth derivative.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87121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softmax output + cross-entropy loss as the baseline.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L2 regularization λ=10⁻⁴ on all weight matrices.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1097280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forward pass (batch)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1554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F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Z₁ = X W₁ᵀ + 1 b₁ᵀ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9019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F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 = tanh(Z₁)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37760" y="22494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F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 = H W₂ᵀ + 1 b₂ᵀ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37760" y="25968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4F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 = softmax_row(S)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291840"/>
            <a:ext cx="4023360" cy="91440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tanh?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36118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· zero-centered · clean derivative: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d/dz tanh(z) = 1 − tanh²(z)  (no piecewise needed)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0020"/>
            <a:ext cx="8736037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Backpropagation: Full Vectorized Derivation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rule applied layer by layer — not magic, just bookkeeping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Forward: X → Z₁ → H → S → P → L.   Backward: propagate ∂L/∂(·) in reverse.  Each local derivative is simple; chain rule assembles them.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269748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sensitivity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∂L/∂S  =  (1/n)(P − 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91840" y="1508760"/>
            <a:ext cx="2697480" cy="3200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weights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965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∂L/∂W₂ = (∂L/∂S)ᵀ H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69748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17920" y="15544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bias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∂L/∂b₂ = (∂L/∂S)ᵀ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8803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269748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pre-activation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∂L/∂Z₁ = (∂L/∂S) W₂ ⊙ (1 − H⊙H)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28803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91840" y="2880360"/>
            <a:ext cx="2697480" cy="3200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83280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weights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83280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∂L/∂W₁ = (∂L/∂Z₁)ᵀ X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126480" y="2880360"/>
            <a:ext cx="269748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126480" y="2880360"/>
            <a:ext cx="2697480" cy="32004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217920" y="2926080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bias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17920" y="33375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∂L/∂b₁ = (∂L/∂Z₁)ᵀ 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⊙ = element-wise product.   (1 − H⊙H) = tanh derivative applied element-wise.   These are the matrix form of the same scalar chain rule from calculus.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Sanity Checks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verification discipline — evidence of correct implementation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170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Sanity Check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1444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gradient (finite differences) vs analytical gradient on selected parameter entries. Relative error &lt; 10⁻⁶ on tiny batch.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46320" y="1170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Sum Check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14447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Σⱼ pⱼ(x) = 1.0 for every example in every batch. No NaN or Inf detected at any training step.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846320" y="19385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331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65760" y="233172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404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Decrease on Tiny Subset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26791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50 gradient steps on 5 training examples — loss decreased monotonically from ~2.3 (random init) to &lt;0.01.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172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33172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663440" y="233172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46320" y="2404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Tiny-Subset Overfitting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6791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with width 32 achieves 100% training accuracy on 10 examples within 100 epochs — confirms correct forward + backward pass.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31729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65760" y="356616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639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NaN/Inf Guard (Stable Softmax)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39136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log-sum-exp trick: softmax(s) = softmax(s − max(s)). No NaN/Inf observed across all seeds and all datasets.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8640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56616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3566160"/>
            <a:ext cx="73152" cy="109728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46320" y="36393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Sanity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46320" y="39136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random init (uniform probs for k=10): CE ≈ log(10) ≈ 2.303. Observed: 2.301 ± 0.01 — matches theoretical expectation.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846320" y="44074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Passed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Datasets &amp; Experimental Protocol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tasks designed for geometric clarity and reproducibility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743200" cy="41148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Gaussian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Gaussian blobs with mild class overlap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9385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Linear boundary is geometrically correct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23225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Tests: is linear structure sufficient?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46120" y="10515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743200" cy="4114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337560" y="1115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 (Nonlinear)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Two interleaved crescent-shaped clusters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83280" y="19385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linear boundary can separate the classes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3225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Tests: representational power of hidden layer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126480" y="1051560"/>
            <a:ext cx="2743200" cy="4114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17920" y="11155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Benchmark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5544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1,797 images · 10 classes · 64-dim features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1938528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Fixed train/val/test split — identical for 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63640" y="23225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Scaled to [0,1] — no additional preprocessing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108960"/>
            <a:ext cx="841248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8412480" cy="3657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Experimental Contract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35478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train/val/test split and same preprocessing for BOTH models — fair comparison guaranteed.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8039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selection: use validation cross-entropy only. Test set touched exactly once per seed.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05993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Epoch budget: 200 epochs, best-val-CE checkpoint used for digits reporting.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3159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Repeated seeds: 5 seeds on digits benchmark → means + 95% CI (t-dist, df=4, factor=2.776).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Experiment 1: Linear Gaussian Task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linear boundary is already sufficient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pic>
        <p:nvPicPr>
          <p:cNvPr id="6" name="Image 0" descr="/home/claude/unpacked/ppt/media/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30352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097280"/>
            <a:ext cx="2926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1097280"/>
            <a:ext cx="292608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508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accuracy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15087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17647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(H=32) accuracy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0" y="17647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20208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0" y="20208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0.1539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276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2276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0.1555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42900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5760" y="342900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474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explanation  (§6.4 required)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374904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Gaussians with equal covariance: the log-posterior ratio log P(y=1|x) − log P(y=0|x) is linear in x (Bayes optimal rule). Softmax regression models exactly this structure. The hidden layer adds no useful nonlinearity — the boundary is already affine. Extra complexity is unjustified by evidence.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Experiment 2: Moons Task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hidden layer changes the geometry of the decision boundary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pic>
        <p:nvPicPr>
          <p:cNvPr id="6" name="Image 0" descr="/home/claude/unpacked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97280"/>
            <a:ext cx="5303520" cy="2194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52160" y="1097280"/>
            <a:ext cx="292608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52160" y="1097280"/>
            <a:ext cx="292608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43600" y="11430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150876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accuracy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72400" y="150876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943600" y="176479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(H=32) accuracy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0" y="1764792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943600" y="20208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CE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0" y="202082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0.2852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943600" y="227685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772400" y="227685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65760" y="3429000"/>
            <a:ext cx="841248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65760" y="3429000"/>
            <a:ext cx="73152" cy="12344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48640" y="3474720"/>
            <a:ext cx="8138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explanation  (§6.4 required)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48640" y="3749040"/>
            <a:ext cx="8138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Moons: the two classes wrap around each other — no affine function of x can separate them (the Bayes boundary is curved). A linear model cannot express this geometry; any hyperplane leaves one crescent partially misclassified. The NN's hidden layer transforms x via tanh, creating a space where the classes become separable.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Experiment 3: Digits Benchmark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10-class classification — training dynamics and model comparison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pic>
        <p:nvPicPr>
          <p:cNvPr id="6" name="Image 0" descr="/home/claude/unpacked/ppt/media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5029200" cy="13716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0" y="1051560"/>
            <a:ext cx="32918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486400" y="1051560"/>
            <a:ext cx="329184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0789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Single-Run Results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577840" y="141732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0" y="1417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1417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577840" y="16916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0" y="1691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94.02%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772400" y="1691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77840" y="196596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(SGD)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0" y="1965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94.02%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772400" y="19659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0.193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2560320"/>
            <a:ext cx="8595360" cy="1005840"/>
          </a:xfrm>
          <a:prstGeom prst="rect">
            <a:avLst/>
          </a:prstGeom>
          <a:solidFill>
            <a:srgbClr val="F59E0B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36576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1" name="Text 18"/>
          <p:cNvSpPr/>
          <p:nvPr/>
        </p:nvSpPr>
        <p:spPr>
          <a:xfrm>
            <a:off x="365760" y="28803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identical (94.02%) but NN achieves 28% lower cross-entropy (0.193 vs 0.270). Accuracy alone is misleading — CE reveals that NN assigns sharper, better-calibrated probabilities to correct classes.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50292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365760" y="37033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CE reduction: 0.270 → 0.193  =  28% improvement</a:t>
            </a:r>
            <a:endParaRPr lang="en-US" sz="13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 Study: Capacity on Moons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widths {2, 8, 32} — how boundary complexity scales with neurons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pic>
        <p:nvPicPr>
          <p:cNvPr id="6" name="Image 0" descr="/home/claude/unpacked/ppt/media/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8595360" cy="2377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3520440"/>
            <a:ext cx="2743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3520440"/>
            <a:ext cx="2743200" cy="3200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65760" y="3886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hidden neurons. Cannot span the crescent geometry. Boundary stays near-linear → under-capacity failure.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154680" y="3520440"/>
            <a:ext cx="2743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154680" y="3520440"/>
            <a:ext cx="2743200" cy="32004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4612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8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6120" y="3886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neurons begin to approximate the curvature. Reasonable fit; lower CE than width-2, boundary starts to curve.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035040" y="3520440"/>
            <a:ext cx="27432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35040" y="3520440"/>
            <a:ext cx="274320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126480" y="35661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= 32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126480" y="388620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setting. Full crescent separation achieved. Boundary correctly wraps both moon shapes → lowest CE.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74320" y="466344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capacity is a geometric constraint — insufficient neurons = insufficient representational span.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 Study: Digits Benchmark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vs Momentum vs Adam — fixed conditions, H=32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pic>
        <p:nvPicPr>
          <p:cNvPr id="6" name="Image 0" descr="/home/claude/unpacked/ppt/media/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114800" cy="25603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572000" y="1051560"/>
            <a:ext cx="420624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0" y="1051560"/>
            <a:ext cx="4206240" cy="36576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Comparison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508760"/>
            <a:ext cx="4023360" cy="8229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63440" y="1508760"/>
            <a:ext cx="73152" cy="82296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846320" y="15544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15544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0.05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846320" y="18562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convergence. No momentum; loss declines smoothly throughout 200 epochs.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2423160"/>
            <a:ext cx="4023360" cy="8229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4663440" y="2423160"/>
            <a:ext cx="73152" cy="8229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846320" y="24688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943600" y="24688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0.05, β = 0.9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846320" y="27706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initial descent. Accumulated gradients accelerate convergence direction.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0" y="3337560"/>
            <a:ext cx="4023360" cy="8229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4663440" y="3337560"/>
            <a:ext cx="73152" cy="8229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846320" y="338328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943600" y="338328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= 0.001, β₁=0.9, β₂=0.999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846320" y="368503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final CE loss. Per-parameter adaptive rates overcome SGD's uniform step.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0" y="42976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converges fastest; all reach similar test accuracy within 200 epochs.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 Training Curves — Per-Optimizer Detail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· Momentum · Adam on digits benchmark (H=32, 200 epochs)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2834640" cy="36576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 (lr=0.05)</a:t>
            </a:r>
            <a:endParaRPr lang="en-US" sz="1100" dirty="0"/>
          </a:p>
        </p:txBody>
      </p:sp>
      <p:pic>
        <p:nvPicPr>
          <p:cNvPr id="8" name="Image 0" descr="/home/claude/unpacked/ppt/media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83080"/>
            <a:ext cx="2834640" cy="19202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200400" y="1371600"/>
            <a:ext cx="2834640" cy="3657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29184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 (lr=0.05, β=0.9)</a:t>
            </a:r>
            <a:endParaRPr lang="en-US" sz="1100" dirty="0"/>
          </a:p>
        </p:txBody>
      </p:sp>
      <p:pic>
        <p:nvPicPr>
          <p:cNvPr id="11" name="Image 1" descr="/home/claude/unpacked/ppt/media/image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783080"/>
            <a:ext cx="2834640" cy="19202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26480" y="1371600"/>
            <a:ext cx="283464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217920" y="14173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(lr=0.001)</a:t>
            </a:r>
            <a:endParaRPr lang="en-US" sz="1100" dirty="0"/>
          </a:p>
        </p:txBody>
      </p:sp>
      <p:pic>
        <p:nvPicPr>
          <p:cNvPr id="14" name="Image 2" descr="/home/claude/unpacked/ppt/media/image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1783080"/>
            <a:ext cx="2834640" cy="19202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74320" y="3840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SGD: smooth but slow decline — still converging at epoch 200.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200400" y="3840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Momentum: faster initial drop — oscillations visible early, then stabilises.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6126480" y="38404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Adam: sharpest early convergence — reaches low CE within ~50 epochs.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Case Analysis: Width-2 NN on Moons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capacity failure — the mechanism, not just the outcome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pic>
        <p:nvPicPr>
          <p:cNvPr id="6" name="Image 0" descr="/home/claude/unpacked/ppt/media/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51560"/>
            <a:ext cx="45720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0" y="1051560"/>
            <a:ext cx="384048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029200" y="1051560"/>
            <a:ext cx="384048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12064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fails — mechanistic explanation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120640" y="150876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 neurons → 2 learned feature directions in hidden space.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120640" y="1947672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tanh activations span a 2D manifold — cannot represent crescent curvature.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20640" y="2386584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layer receives only 2 numbers per input: insufficient to discriminate moons.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120640" y="2825496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Result: boundary stays near-linear, unable to wrap around either crescent.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120640" y="3264408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This is a capacity failure — not an optimizer issue, not a data issue.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120640" y="3703320"/>
            <a:ext cx="3657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Fix: increase hidden width (width=8 already improves significantly).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4297680"/>
            <a:ext cx="8595360" cy="41148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model capacity must match the geometric complexity of the task.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33272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Repeated-Seed Statistics  (5 Seeds, Digits Benchmark)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63524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confidence intervals reveal statistical significance of CE improvement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8595360" cy="365760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4F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  x̄ ± 2.776 · s/√5   (t-distribution, df = 4, two-sided 95% CI)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08760"/>
            <a:ext cx="859536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554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71600" y="1554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560320" y="1554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66160" y="1554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55448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±CI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0" y="1554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1508760"/>
            <a:ext cx="859536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155448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" y="1856232"/>
            <a:ext cx="8595360" cy="329184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371600" y="18745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56032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93.86%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6616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0.149%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0" y="1874520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±0.185%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18745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93.67%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66560" y="187452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94.04%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22037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371600" y="22037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560320" y="22037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0.26930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66160" y="22037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0.000351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0" y="2203704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±0.000436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77840" y="22037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0.26887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766560" y="22037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0.26974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2514600"/>
            <a:ext cx="8595360" cy="329184"/>
          </a:xfrm>
          <a:prstGeom prst="rect">
            <a:avLst/>
          </a:prstGeom>
          <a:solidFill>
            <a:srgbClr val="F0FD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65760" y="25328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(SGD)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371600" y="25328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0320" y="25328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93.97%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66160" y="25328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0.403%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0" y="2532888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±0.500%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77840" y="25328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93.47%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766560" y="25328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94.47%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65760" y="28620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(SGD)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371600" y="28620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560320" y="28620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0.19334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66160" y="28620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0.008268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572000" y="2862072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±0.01026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577840" y="28620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0.18307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766560" y="28620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0.20360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74320" y="3291840"/>
            <a:ext cx="859536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74320" y="3291840"/>
            <a:ext cx="73152" cy="14173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Interpretation  +  Answer to Required Q5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CIs OVERLAP: [93.67%, 94.04%] vs [93.47%, 94.47%] — no statistically significant accuracy difference.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CROSS-ENTROPY CIs DO NOT OVERLAP: [0.2689, 0.2697] vs [0.1831, 0.2036] — NN CE improvement is statistically real.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Q5 answer: A single run could by chance show either model leading on any metric. 5 seeds reveal that the CE gap is consistent (not luck) while the accuracy gap is noise — a single run cannot distinguish these two cases.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NN variability (std 0.40%) &gt; Softmax (0.15%) — NN is more optimizer-sensitive; seeds expose this too.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Track B: Prediction Confidence &amp; Reliability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458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Entropy, calibration curves, and what they reveal about each model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5-bin Confidence vs Accuracy (Reliability Diagrams)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0" y="1143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by Correctness</a:t>
            </a:r>
            <a:endParaRPr lang="en-US" sz="1000" dirty="0"/>
          </a:p>
        </p:txBody>
      </p:sp>
      <p:pic>
        <p:nvPicPr>
          <p:cNvPr id="8" name="Image 0" descr="/home/claude/unpacked/ppt/media/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417320"/>
            <a:ext cx="2468880" cy="2011680"/>
          </a:xfrm>
          <a:prstGeom prst="rect">
            <a:avLst/>
          </a:prstGeom>
        </p:spPr>
      </p:pic>
      <p:pic>
        <p:nvPicPr>
          <p:cNvPr id="9" name="Image 1" descr="/home/claude/unpacked/ppt/media/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1417320"/>
            <a:ext cx="2468880" cy="2011680"/>
          </a:xfrm>
          <a:prstGeom prst="rect">
            <a:avLst/>
          </a:prstGeom>
        </p:spPr>
      </p:pic>
      <p:pic>
        <p:nvPicPr>
          <p:cNvPr id="10" name="Image 2" descr="/home/claude/unpacked/ppt/media/image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1417320"/>
            <a:ext cx="3474720" cy="20116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7432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2834640" y="3429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4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(H=32)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74320" y="3657600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9"/>
          <p:cNvSpPr/>
          <p:nvPr/>
        </p:nvSpPr>
        <p:spPr>
          <a:xfrm>
            <a:off x="274320" y="3657600"/>
            <a:ext cx="8595360" cy="32004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0"/>
          <p:cNvSpPr/>
          <p:nvPr/>
        </p:nvSpPr>
        <p:spPr>
          <a:xfrm>
            <a:off x="365760" y="370332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Entropy Values (Digits Test Set, n=368)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65760" y="4023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Correct (n=346)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6576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0.481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2468880" y="4023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Incorrect (n=22)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46888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1.339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0" y="4023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Correct (n=345)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57200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0.190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675120" y="40233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Incorrect (n=23)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675120" y="4251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0.979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is sharper: correct predictions have entropy 0.190 (vs 0.481 for softmax). Both models flag incorrect predictions with higher entropy — useful uncertainty signal.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Numbers at a Glance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critical results in one place before conclusions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103120" cy="36576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Task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acc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16916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acc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2103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95.0%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331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65760" y="25146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0.1539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CE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65760" y="29260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0.1555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794760"/>
            <a:ext cx="2103120" cy="457200"/>
          </a:xfrm>
          <a:prstGeom prst="rect">
            <a:avLst/>
          </a:prstGeom>
          <a:solidFill>
            <a:srgbClr val="0D4F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= sufficient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105156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468880" y="1051560"/>
            <a:ext cx="2103120" cy="36576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6032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 Task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60320" y="15087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acc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560320" y="16916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6032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acc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560320" y="2103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560320" y="2331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CE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60320" y="25146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0.2852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560320" y="2743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560320" y="29260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0.2695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468880" y="3794760"/>
            <a:ext cx="2103120" cy="457200"/>
          </a:xfrm>
          <a:prstGeom prst="rect">
            <a:avLst/>
          </a:prstGeom>
          <a:solidFill>
            <a:srgbClr val="0E749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56032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NN: better CE, curved boundary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05156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1051560"/>
            <a:ext cx="2103120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5488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Digits (5-seed)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54880" y="15087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acc CI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754880" y="16916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[93.67%, 94.04%]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75488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acc CI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754880" y="2103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[93.47%, 94.47%]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54880" y="2331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CE CI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54880" y="25146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[0.2689, 0.2697]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54880" y="2743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CE CI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54880" y="29260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[0.1831, 0.2036]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3794760"/>
            <a:ext cx="2103120" cy="457200"/>
          </a:xfrm>
          <a:prstGeom prst="rect">
            <a:avLst/>
          </a:prstGeom>
          <a:solidFill>
            <a:srgbClr val="14B8A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75488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CIs overlap? NO → significant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858000" y="1051560"/>
            <a:ext cx="21031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858000" y="1051560"/>
            <a:ext cx="2103120" cy="36576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949440" y="1097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B Entropy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949440" y="150876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correct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949440" y="16916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0.481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949440" y="192024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wrong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949440" y="21031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1.339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49440" y="233172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correct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949440" y="25146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0.190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949440" y="27432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wrong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949440" y="292608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0.979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858000" y="3794760"/>
            <a:ext cx="2103120" cy="457200"/>
          </a:xfrm>
          <a:prstGeom prst="rect">
            <a:avLst/>
          </a:prstGeom>
          <a:solidFill>
            <a:srgbClr val="F59E0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6949440" y="3840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 sharper? Yes — 60% lower H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All Five Required Interpretive Questions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from our evidence — not from the handout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910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73152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21615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When is the linear model geometrically sufficient?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task: 95% acc, identical to NN. When log-posterior ratio is linear in x, softmax regression is Bayes-optimal — no hidden layer needed.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929384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929384"/>
            <a:ext cx="73152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975104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What representational change does the hidden layer provide?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222199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Moons: curved boundaries impossible for any hyperplane. Digits: 28% lower CE — hidden layer reshapes feature space so classes become more separable.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688336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688336"/>
            <a:ext cx="73152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34056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When does additional complexity fail to justify itself?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2980944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Gaussian: NN = softmax exactly. Width-2 on moons: under-capacity failure. Complexity must be justified by evidence, not assumed.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3447288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3447288"/>
            <a:ext cx="73152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49300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What does the failure case teach?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739896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Width-2 is a geometric failure — 2 neurons span too small a feature manifold. Not an optimizer problem. Fix: more neurons, not more epochs.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4206240"/>
            <a:ext cx="73152" cy="6858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251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4F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Q5: What do repeated-seed statistics add beyond a single run?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run may be lucky or unlucky. 5 seeds reveal that: accuracy CIs overlap (no real gap) but CE CIs do NOT overlap — only repeated seeds expose this distinction reliably.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Honest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study does NOT show — and why that matters scientifically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8920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Math4AI Capstone  |  National AI Center  |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73152" cy="109728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scale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synthetic datasets + 1,797-sample digits. Results may not generalize to large-scale real-world tasks.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63440" y="1051560"/>
            <a:ext cx="73152" cy="10972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143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depth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46304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single hidden layer studied. Two or more layers can learn qualitatively different representations — not covered here.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286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73152" cy="109728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family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697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tanh used. ReLU-family activations behave differently (sparse, non-smooth) and dominate modern practice.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228600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663440" y="2286000"/>
            <a:ext cx="73152" cy="10972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2377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analysis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26974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5-bin reliability with 368 test samples is too coarse for strong calibration claims. Modern ECE analysis needs larger populations.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35204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520440"/>
            <a:ext cx="73152" cy="1097280"/>
          </a:xfrm>
          <a:prstGeom prst="rect">
            <a:avLst/>
          </a:prstGeom>
          <a:solidFill>
            <a:srgbClr val="0D4F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611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scope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hyperparameters are fixed by protocol. Relative optimizer performance may shift under different learning rate schedules.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520440"/>
            <a:ext cx="420624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63440" y="3520440"/>
            <a:ext cx="73152" cy="109728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46320" y="36118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power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9319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 provides rough variability. Statistically rigorous comparison would require bootstrapping or many more seeds.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E74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3200400"/>
            <a:ext cx="4572000" cy="4572000"/>
          </a:xfrm>
          <a:prstGeom prst="ellipse">
            <a:avLst/>
          </a:prstGeom>
          <a:solidFill>
            <a:srgbClr val="14B8A6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4B8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AI CENTER  —  AI ACADEMY  |  MATH4AI CAPSTONE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73152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model is sufficient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class geometry is linearly separable (Gaussian task, 95% acc).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73152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earns its complexity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moons (curved boundaries) and digits (28% CE reduction).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73152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" y="22860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reveals more than accuracy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identical accuracy masks a real and statistically significant gap.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73152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27889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non-overlap is the key test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CE CIs do not overlap; accuracy CIs do. CE wins the argument.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73152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must match geometry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width-2 failure is geometric, not an optimizer issue.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73152" cy="36576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" y="37947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seeds are essential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single runs may be lucky or unlucky; CIs quantify reliability.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617720"/>
            <a:ext cx="9144000" cy="5303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469087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 ·  Questions welcome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3063</Words>
  <Application>Microsoft Office PowerPoint</Application>
  <PresentationFormat>On-screen Show (16:9)</PresentationFormat>
  <Paragraphs>396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Math4AI Capstone: From Linear Scores to a Single Hidden Layer</dc:title>
  <dc:subject>PptxGenJS Presentation</dc:subject>
  <dc:creator>Rahima Karimova &amp; Team</dc:creator>
  <cp:lastModifiedBy>Rahima Karimova</cp:lastModifiedBy>
  <cp:revision>2</cp:revision>
  <dcterms:created xsi:type="dcterms:W3CDTF">2026-03-30T11:45:36Z</dcterms:created>
  <dcterms:modified xsi:type="dcterms:W3CDTF">2026-03-30T12:09:11Z</dcterms:modified>
</cp:coreProperties>
</file>